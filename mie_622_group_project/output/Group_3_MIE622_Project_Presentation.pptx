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715000" type="screen16x10"/>
  <p:notesSz cx="6858000" cy="9144000"/>
  <p:embeddedFontLst>
    <p:embeddedFont>
      <p:font typeface="Proxima Nova" panose="02000506030000020004" pitchFamily="2"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80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F727CA1-A22B-4835-B2F0-923C0CB78E8B}">
  <a:tblStyle styleId="{8F727CA1-A22B-4835-B2F0-923C0CB78E8B}"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44" d="100"/>
          <a:sy n="144" d="100"/>
        </p:scale>
        <p:origin x="1264" y="184"/>
      </p:cViewPr>
      <p:guideLst>
        <p:guide orient="horz" pos="180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dbb8027fd6_0_1:notes"/>
          <p:cNvSpPr>
            <a:spLocks noGrp="1" noRot="1" noChangeAspect="1"/>
          </p:cNvSpPr>
          <p:nvPr>
            <p:ph type="sldImg" idx="2"/>
          </p:nvPr>
        </p:nvSpPr>
        <p:spPr>
          <a:xfrm>
            <a:off x="6861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dbb8027fd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dbb8027fd6_0_13:notes"/>
          <p:cNvSpPr>
            <a:spLocks noGrp="1" noRot="1" noChangeAspect="1"/>
          </p:cNvSpPr>
          <p:nvPr>
            <p:ph type="sldImg" idx="2"/>
          </p:nvPr>
        </p:nvSpPr>
        <p:spPr>
          <a:xfrm>
            <a:off x="6861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dbb8027fd6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dbb8027fd6_0_2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dbb8027fd6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dbb8027fd6_0_84: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dbb8027fd6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dbb8027fd6_0_5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dbb8027fd6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dbb8027fd6_0_5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dbb8027fd6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dbb8027fd6_0_63:notes"/>
          <p:cNvSpPr>
            <a:spLocks noGrp="1" noRot="1" noChangeAspect="1"/>
          </p:cNvSpPr>
          <p:nvPr>
            <p:ph type="sldImg" idx="2"/>
          </p:nvPr>
        </p:nvSpPr>
        <p:spPr>
          <a:xfrm>
            <a:off x="6861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dbb8027fd6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dbb8027fd6_0_4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dbb8027fd6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dbb8027fd6_0_132: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dbb8027fd6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dbb8027fd6_0_156: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dbb8027fd6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dbb8027fd6_0_18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dbb8027fd6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dbb8027fd6_0_201:notes"/>
          <p:cNvSpPr>
            <a:spLocks noGrp="1" noRot="1" noChangeAspect="1"/>
          </p:cNvSpPr>
          <p:nvPr>
            <p:ph type="sldImg" idx="2"/>
          </p:nvPr>
        </p:nvSpPr>
        <p:spPr>
          <a:xfrm>
            <a:off x="6861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dbb8027fd6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dbb8027fd6_0_215:notes"/>
          <p:cNvSpPr>
            <a:spLocks noGrp="1" noRot="1" noChangeAspect="1"/>
          </p:cNvSpPr>
          <p:nvPr>
            <p:ph type="sldImg" idx="2"/>
          </p:nvPr>
        </p:nvSpPr>
        <p:spPr>
          <a:xfrm>
            <a:off x="6861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dbb8027fd6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827306"/>
            <a:ext cx="8520600" cy="2280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3149028"/>
            <a:ext cx="8520600" cy="880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389833"/>
            <a:ext cx="8520600" cy="935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94472"/>
            <a:ext cx="8520600" cy="636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280528"/>
            <a:ext cx="8520600" cy="3795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94472"/>
            <a:ext cx="8520600" cy="636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280528"/>
            <a:ext cx="3999900" cy="3795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280528"/>
            <a:ext cx="3999900" cy="3795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94472"/>
            <a:ext cx="8520600" cy="636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617333"/>
            <a:ext cx="2808000" cy="839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544000"/>
            <a:ext cx="2808000" cy="35328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500167"/>
            <a:ext cx="6367800" cy="45453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39"/>
            <a:ext cx="4572000" cy="5715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370194"/>
            <a:ext cx="4045200" cy="16470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3114528"/>
            <a:ext cx="4045200" cy="13722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804528"/>
            <a:ext cx="3837000" cy="41058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700639"/>
            <a:ext cx="5998800" cy="6723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229028"/>
            <a:ext cx="8520600" cy="21816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502472"/>
            <a:ext cx="8520600" cy="14454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94472"/>
            <a:ext cx="8520600" cy="6363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280528"/>
            <a:ext cx="8520600" cy="37959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5181352"/>
            <a:ext cx="548700" cy="4374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hyperlink" Target="https://archive.ics.uci.edu/dataset/697/predict+students+dropout+and+academic+success"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827306"/>
            <a:ext cx="8520600" cy="2280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3000" b="1">
                <a:latin typeface="Proxima Nova"/>
                <a:ea typeface="Proxima Nova"/>
                <a:cs typeface="Proxima Nova"/>
                <a:sym typeface="Proxima Nova"/>
              </a:rPr>
              <a:t>Predictive Modelling to Predict Students Dropout and Academic Success</a:t>
            </a:r>
            <a:endParaRPr sz="3000" b="1">
              <a:latin typeface="Proxima Nova"/>
              <a:ea typeface="Proxima Nova"/>
              <a:cs typeface="Proxima Nova"/>
              <a:sym typeface="Proxima Nova"/>
            </a:endParaRPr>
          </a:p>
        </p:txBody>
      </p:sp>
      <p:sp>
        <p:nvSpPr>
          <p:cNvPr id="55" name="Google Shape;55;p13"/>
          <p:cNvSpPr txBox="1">
            <a:spLocks noGrp="1"/>
          </p:cNvSpPr>
          <p:nvPr>
            <p:ph type="subTitle" idx="1"/>
          </p:nvPr>
        </p:nvSpPr>
        <p:spPr>
          <a:xfrm>
            <a:off x="311700" y="3149028"/>
            <a:ext cx="8520600" cy="8808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300"/>
              <a:t>James Kibiro | Joshua Balderas | Neelkumar Patel</a:t>
            </a:r>
            <a:endParaRPr sz="23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94472"/>
            <a:ext cx="8520600" cy="636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latin typeface="Proxima Nova"/>
                <a:ea typeface="Proxima Nova"/>
                <a:cs typeface="Proxima Nova"/>
                <a:sym typeface="Proxima Nova"/>
              </a:rPr>
              <a:t>Recap: Project Motivation and Research Questions</a:t>
            </a:r>
            <a:endParaRPr b="1">
              <a:latin typeface="Proxima Nova"/>
              <a:ea typeface="Proxima Nova"/>
              <a:cs typeface="Proxima Nova"/>
              <a:sym typeface="Proxima Nova"/>
            </a:endParaRPr>
          </a:p>
        </p:txBody>
      </p:sp>
      <p:sp>
        <p:nvSpPr>
          <p:cNvPr id="61" name="Google Shape;61;p14"/>
          <p:cNvSpPr txBox="1"/>
          <p:nvPr/>
        </p:nvSpPr>
        <p:spPr>
          <a:xfrm>
            <a:off x="311700" y="1241000"/>
            <a:ext cx="4070700" cy="366300"/>
          </a:xfrm>
          <a:prstGeom prst="rect">
            <a:avLst/>
          </a:prstGeom>
          <a:noFill/>
          <a:ln>
            <a:noFill/>
          </a:ln>
        </p:spPr>
        <p:txBody>
          <a:bodyPr spcFirstLastPara="1" wrap="square" lIns="91425" tIns="45700" rIns="91425" bIns="45700" anchor="t" anchorCtr="0">
            <a:normAutofit/>
          </a:bodyPr>
          <a:lstStyle/>
          <a:p>
            <a:pPr marL="0" lvl="0" indent="0" algn="l" rtl="0">
              <a:lnSpc>
                <a:spcPct val="120000"/>
              </a:lnSpc>
              <a:spcBef>
                <a:spcPts val="0"/>
              </a:spcBef>
              <a:spcAft>
                <a:spcPts val="0"/>
              </a:spcAft>
              <a:buNone/>
            </a:pPr>
            <a:r>
              <a:rPr lang="en" sz="1800" b="1">
                <a:solidFill>
                  <a:srgbClr val="1B9579"/>
                </a:solidFill>
                <a:latin typeface="Proxima Nova"/>
                <a:ea typeface="Proxima Nova"/>
                <a:cs typeface="Proxima Nova"/>
                <a:sym typeface="Proxima Nova"/>
              </a:rPr>
              <a:t>WHY THIS TOPIC?</a:t>
            </a:r>
            <a:endParaRPr sz="1800" b="1">
              <a:solidFill>
                <a:srgbClr val="000000"/>
              </a:solidFill>
              <a:latin typeface="Proxima Nova"/>
              <a:ea typeface="Proxima Nova"/>
              <a:cs typeface="Proxima Nova"/>
              <a:sym typeface="Proxima Nova"/>
            </a:endParaRPr>
          </a:p>
        </p:txBody>
      </p:sp>
      <p:sp>
        <p:nvSpPr>
          <p:cNvPr id="62" name="Google Shape;62;p14"/>
          <p:cNvSpPr txBox="1"/>
          <p:nvPr/>
        </p:nvSpPr>
        <p:spPr>
          <a:xfrm>
            <a:off x="311700" y="1717528"/>
            <a:ext cx="4070700" cy="18492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r>
              <a:rPr lang="en">
                <a:solidFill>
                  <a:srgbClr val="000000"/>
                </a:solidFill>
                <a:latin typeface="Proxima Nova"/>
                <a:ea typeface="Proxima Nova"/>
                <a:cs typeface="Proxima Nova"/>
                <a:sym typeface="Proxima Nova"/>
              </a:rPr>
              <a:t>Student dropout and academic failure have high costs for students and institutions:</a:t>
            </a:r>
            <a:endParaRPr>
              <a:solidFill>
                <a:srgbClr val="000000"/>
              </a:solidFill>
              <a:latin typeface="Proxima Nova"/>
              <a:ea typeface="Proxima Nova"/>
              <a:cs typeface="Proxima Nova"/>
              <a:sym typeface="Proxima Nova"/>
            </a:endParaRPr>
          </a:p>
          <a:p>
            <a:pPr marL="457200" lvl="0" indent="-317500" algn="l" rtl="0">
              <a:lnSpc>
                <a:spcPct val="150000"/>
              </a:lnSpc>
              <a:spcBef>
                <a:spcPts val="500"/>
              </a:spcBef>
              <a:spcAft>
                <a:spcPts val="0"/>
              </a:spcAft>
              <a:buClr>
                <a:srgbClr val="000000"/>
              </a:buClr>
              <a:buSzPts val="1400"/>
              <a:buFont typeface="Proxima Nova"/>
              <a:buChar char="●"/>
            </a:pPr>
            <a:r>
              <a:rPr lang="en">
                <a:solidFill>
                  <a:srgbClr val="000000"/>
                </a:solidFill>
                <a:latin typeface="Proxima Nova"/>
                <a:ea typeface="Proxima Nova"/>
                <a:cs typeface="Proxima Nova"/>
                <a:sym typeface="Proxima Nova"/>
              </a:rPr>
              <a:t>lost tuition revenue</a:t>
            </a:r>
            <a:endParaRPr>
              <a:solidFill>
                <a:srgbClr val="000000"/>
              </a:solidFill>
              <a:latin typeface="Proxima Nova"/>
              <a:ea typeface="Proxima Nova"/>
              <a:cs typeface="Proxima Nova"/>
              <a:sym typeface="Proxima Nova"/>
            </a:endParaRPr>
          </a:p>
          <a:p>
            <a:pPr marL="457200" lvl="0" indent="-317500" algn="l" rtl="0">
              <a:lnSpc>
                <a:spcPct val="150000"/>
              </a:lnSpc>
              <a:spcBef>
                <a:spcPts val="0"/>
              </a:spcBef>
              <a:spcAft>
                <a:spcPts val="0"/>
              </a:spcAft>
              <a:buClr>
                <a:srgbClr val="000000"/>
              </a:buClr>
              <a:buSzPts val="1400"/>
              <a:buFont typeface="Proxima Nova"/>
              <a:buChar char="●"/>
            </a:pPr>
            <a:r>
              <a:rPr lang="en">
                <a:solidFill>
                  <a:srgbClr val="000000"/>
                </a:solidFill>
                <a:latin typeface="Proxima Nova"/>
                <a:ea typeface="Proxima Nova"/>
                <a:cs typeface="Proxima Nova"/>
                <a:sym typeface="Proxima Nova"/>
              </a:rPr>
              <a:t>delayed career progress</a:t>
            </a:r>
            <a:endParaRPr>
              <a:solidFill>
                <a:srgbClr val="000000"/>
              </a:solidFill>
              <a:latin typeface="Proxima Nova"/>
              <a:ea typeface="Proxima Nova"/>
              <a:cs typeface="Proxima Nova"/>
              <a:sym typeface="Proxima Nova"/>
            </a:endParaRPr>
          </a:p>
          <a:p>
            <a:pPr marL="457200" lvl="0" indent="-317500" algn="l" rtl="0">
              <a:lnSpc>
                <a:spcPct val="150000"/>
              </a:lnSpc>
              <a:spcBef>
                <a:spcPts val="0"/>
              </a:spcBef>
              <a:spcAft>
                <a:spcPts val="0"/>
              </a:spcAft>
              <a:buClr>
                <a:srgbClr val="000000"/>
              </a:buClr>
              <a:buSzPts val="1400"/>
              <a:buFont typeface="Proxima Nova"/>
              <a:buChar char="●"/>
            </a:pPr>
            <a:r>
              <a:rPr lang="en">
                <a:solidFill>
                  <a:srgbClr val="000000"/>
                </a:solidFill>
                <a:latin typeface="Proxima Nova"/>
                <a:ea typeface="Proxima Nova"/>
                <a:cs typeface="Proxima Nova"/>
                <a:sym typeface="Proxima Nova"/>
              </a:rPr>
              <a:t>lower graduation and retention rates</a:t>
            </a:r>
            <a:endParaRPr>
              <a:solidFill>
                <a:srgbClr val="000000"/>
              </a:solidFill>
              <a:latin typeface="Proxima Nova"/>
              <a:ea typeface="Proxima Nova"/>
              <a:cs typeface="Proxima Nova"/>
              <a:sym typeface="Proxima Nova"/>
            </a:endParaRPr>
          </a:p>
        </p:txBody>
      </p:sp>
      <p:sp>
        <p:nvSpPr>
          <p:cNvPr id="63" name="Google Shape;63;p14"/>
          <p:cNvSpPr txBox="1"/>
          <p:nvPr/>
        </p:nvSpPr>
        <p:spPr>
          <a:xfrm>
            <a:off x="4761700" y="1241000"/>
            <a:ext cx="4070700" cy="366300"/>
          </a:xfrm>
          <a:prstGeom prst="rect">
            <a:avLst/>
          </a:prstGeom>
          <a:noFill/>
          <a:ln>
            <a:noFill/>
          </a:ln>
        </p:spPr>
        <p:txBody>
          <a:bodyPr spcFirstLastPara="1" wrap="square" lIns="91425" tIns="45700" rIns="91425" bIns="45700" anchor="t" anchorCtr="0">
            <a:normAutofit/>
          </a:bodyPr>
          <a:lstStyle/>
          <a:p>
            <a:pPr marL="0" lvl="0" indent="0" algn="l" rtl="0">
              <a:lnSpc>
                <a:spcPct val="120000"/>
              </a:lnSpc>
              <a:spcBef>
                <a:spcPts val="0"/>
              </a:spcBef>
              <a:spcAft>
                <a:spcPts val="0"/>
              </a:spcAft>
              <a:buNone/>
            </a:pPr>
            <a:r>
              <a:rPr lang="en" sz="1800" b="1">
                <a:solidFill>
                  <a:srgbClr val="1B9579"/>
                </a:solidFill>
                <a:latin typeface="Proxima Nova"/>
                <a:ea typeface="Proxima Nova"/>
                <a:cs typeface="Proxima Nova"/>
                <a:sym typeface="Proxima Nova"/>
              </a:rPr>
              <a:t>KEY STUDY QUESTIONS</a:t>
            </a:r>
            <a:endParaRPr sz="1800" b="1">
              <a:solidFill>
                <a:srgbClr val="000000"/>
              </a:solidFill>
              <a:latin typeface="Proxima Nova"/>
              <a:ea typeface="Proxima Nova"/>
              <a:cs typeface="Proxima Nova"/>
              <a:sym typeface="Proxima Nova"/>
            </a:endParaRPr>
          </a:p>
        </p:txBody>
      </p:sp>
      <p:sp>
        <p:nvSpPr>
          <p:cNvPr id="64" name="Google Shape;64;p14"/>
          <p:cNvSpPr txBox="1"/>
          <p:nvPr/>
        </p:nvSpPr>
        <p:spPr>
          <a:xfrm>
            <a:off x="4761700" y="1717528"/>
            <a:ext cx="4070700" cy="3359100"/>
          </a:xfrm>
          <a:prstGeom prst="rect">
            <a:avLst/>
          </a:prstGeom>
          <a:noFill/>
          <a:ln>
            <a:noFill/>
          </a:ln>
        </p:spPr>
        <p:txBody>
          <a:bodyPr spcFirstLastPara="1" wrap="square" lIns="91425" tIns="45700" rIns="91425" bIns="45700" anchor="t" anchorCtr="0">
            <a:noAutofit/>
          </a:bodyPr>
          <a:lstStyle/>
          <a:p>
            <a:pPr marL="457200" lvl="0" indent="-317500" algn="l" rtl="0">
              <a:lnSpc>
                <a:spcPct val="120000"/>
              </a:lnSpc>
              <a:spcBef>
                <a:spcPts val="0"/>
              </a:spcBef>
              <a:spcAft>
                <a:spcPts val="0"/>
              </a:spcAft>
              <a:buClr>
                <a:schemeClr val="dk1"/>
              </a:buClr>
              <a:buSzPts val="1400"/>
              <a:buFont typeface="Proxima Nova"/>
              <a:buAutoNum type="arabicPeriod"/>
            </a:pPr>
            <a:r>
              <a:rPr lang="en">
                <a:solidFill>
                  <a:schemeClr val="dk1"/>
                </a:solidFill>
                <a:latin typeface="Proxima Nova"/>
                <a:ea typeface="Proxima Nova"/>
                <a:cs typeface="Proxima Nova"/>
                <a:sym typeface="Proxima Nova"/>
              </a:rPr>
              <a:t>What are the biggest contributors to student dropout and academic failure?</a:t>
            </a:r>
            <a:endParaRPr>
              <a:solidFill>
                <a:schemeClr val="dk1"/>
              </a:solidFill>
              <a:latin typeface="Proxima Nova"/>
              <a:ea typeface="Proxima Nova"/>
              <a:cs typeface="Proxima Nova"/>
              <a:sym typeface="Proxima Nova"/>
            </a:endParaRPr>
          </a:p>
          <a:p>
            <a:pPr marL="457200" lvl="0" indent="-317500" algn="l" rtl="0">
              <a:lnSpc>
                <a:spcPct val="120000"/>
              </a:lnSpc>
              <a:spcBef>
                <a:spcPts val="0"/>
              </a:spcBef>
              <a:spcAft>
                <a:spcPts val="0"/>
              </a:spcAft>
              <a:buClr>
                <a:schemeClr val="dk1"/>
              </a:buClr>
              <a:buSzPts val="1400"/>
              <a:buFont typeface="Proxima Nova"/>
              <a:buAutoNum type="arabicPeriod"/>
            </a:pPr>
            <a:r>
              <a:rPr lang="en">
                <a:solidFill>
                  <a:schemeClr val="dk1"/>
                </a:solidFill>
                <a:latin typeface="Proxima Nova"/>
                <a:ea typeface="Proxima Nova"/>
                <a:cs typeface="Proxima Nova"/>
                <a:sym typeface="Proxima Nova"/>
              </a:rPr>
              <a:t>Can we predict whether a student will drop out, remain enrolled, or graduate?</a:t>
            </a:r>
            <a:endParaRPr>
              <a:solidFill>
                <a:schemeClr val="dk1"/>
              </a:solidFill>
              <a:latin typeface="Proxima Nova"/>
              <a:ea typeface="Proxima Nova"/>
              <a:cs typeface="Proxima Nova"/>
              <a:sym typeface="Proxima Nova"/>
            </a:endParaRPr>
          </a:p>
          <a:p>
            <a:pPr marL="457200" lvl="0" indent="-317500" algn="l" rtl="0">
              <a:lnSpc>
                <a:spcPct val="120000"/>
              </a:lnSpc>
              <a:spcBef>
                <a:spcPts val="0"/>
              </a:spcBef>
              <a:spcAft>
                <a:spcPts val="0"/>
              </a:spcAft>
              <a:buClr>
                <a:schemeClr val="dk1"/>
              </a:buClr>
              <a:buSzPts val="1400"/>
              <a:buFont typeface="Proxima Nova"/>
              <a:buAutoNum type="arabicPeriod"/>
            </a:pPr>
            <a:r>
              <a:rPr lang="en">
                <a:solidFill>
                  <a:schemeClr val="dk1"/>
                </a:solidFill>
                <a:latin typeface="Proxima Nova"/>
                <a:ea typeface="Proxima Nova"/>
                <a:cs typeface="Proxima Nova"/>
                <a:sym typeface="Proxima Nova"/>
              </a:rPr>
              <a:t>Can we predict dropout using only first-semester data?</a:t>
            </a:r>
            <a:endParaRPr>
              <a:latin typeface="Proxima Nova"/>
              <a:ea typeface="Proxima Nova"/>
              <a:cs typeface="Proxima Nova"/>
              <a:sym typeface="Proxima Nova"/>
            </a:endParaRPr>
          </a:p>
        </p:txBody>
      </p:sp>
      <p:sp>
        <p:nvSpPr>
          <p:cNvPr id="65" name="Google Shape;65;p14"/>
          <p:cNvSpPr txBox="1"/>
          <p:nvPr/>
        </p:nvSpPr>
        <p:spPr>
          <a:xfrm>
            <a:off x="311700" y="3657194"/>
            <a:ext cx="4070700" cy="12774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 i="0" u="none" strike="noStrike" cap="none">
                <a:solidFill>
                  <a:srgbClr val="000000"/>
                </a:solidFill>
                <a:latin typeface="Proxima Nova"/>
                <a:ea typeface="Proxima Nova"/>
                <a:cs typeface="Proxima Nova"/>
                <a:sym typeface="Proxima Nova"/>
              </a:rPr>
              <a:t>Using data-inclined approaches, Universities can:</a:t>
            </a:r>
            <a:endParaRPr>
              <a:latin typeface="Proxima Nova"/>
              <a:ea typeface="Proxima Nova"/>
              <a:cs typeface="Proxima Nova"/>
              <a:sym typeface="Proxima Nova"/>
            </a:endParaRPr>
          </a:p>
          <a:p>
            <a:pPr marL="457200" marR="0" lvl="0" indent="-317500" algn="l" rtl="0">
              <a:lnSpc>
                <a:spcPct val="150000"/>
              </a:lnSpc>
              <a:spcBef>
                <a:spcPts val="0"/>
              </a:spcBef>
              <a:spcAft>
                <a:spcPts val="0"/>
              </a:spcAft>
              <a:buClr>
                <a:srgbClr val="000000"/>
              </a:buClr>
              <a:buSzPts val="1400"/>
              <a:buFont typeface="Proxima Nova"/>
              <a:buChar char="●"/>
            </a:pPr>
            <a:r>
              <a:rPr lang="en" i="0" u="none" strike="noStrike" cap="none">
                <a:solidFill>
                  <a:srgbClr val="000000"/>
                </a:solidFill>
                <a:latin typeface="Proxima Nova"/>
                <a:ea typeface="Proxima Nova"/>
                <a:cs typeface="Proxima Nova"/>
                <a:sym typeface="Proxima Nova"/>
              </a:rPr>
              <a:t>Boost Graduation Rates</a:t>
            </a:r>
            <a:endParaRPr>
              <a:latin typeface="Proxima Nova"/>
              <a:ea typeface="Proxima Nova"/>
              <a:cs typeface="Proxima Nova"/>
              <a:sym typeface="Proxima Nova"/>
            </a:endParaRPr>
          </a:p>
          <a:p>
            <a:pPr marL="457200" marR="0" lvl="0" indent="-317500" algn="l" rtl="0">
              <a:lnSpc>
                <a:spcPct val="150000"/>
              </a:lnSpc>
              <a:spcBef>
                <a:spcPts val="0"/>
              </a:spcBef>
              <a:spcAft>
                <a:spcPts val="0"/>
              </a:spcAft>
              <a:buClr>
                <a:srgbClr val="000000"/>
              </a:buClr>
              <a:buSzPts val="1400"/>
              <a:buFont typeface="Proxima Nova"/>
              <a:buChar char="●"/>
            </a:pPr>
            <a:r>
              <a:rPr lang="en" i="0" u="none" strike="noStrike" cap="none">
                <a:solidFill>
                  <a:srgbClr val="000000"/>
                </a:solidFill>
                <a:latin typeface="Proxima Nova"/>
                <a:ea typeface="Proxima Nova"/>
                <a:cs typeface="Proxima Nova"/>
                <a:sym typeface="Proxima Nova"/>
              </a:rPr>
              <a:t>Optimize Resource Allocations</a:t>
            </a:r>
            <a:endParaRPr>
              <a:latin typeface="Proxima Nova"/>
              <a:ea typeface="Proxima Nova"/>
              <a:cs typeface="Proxima Nova"/>
              <a:sym typeface="Proxima Nova"/>
            </a:endParaRPr>
          </a:p>
          <a:p>
            <a:pPr marL="457200" marR="0" lvl="0" indent="-317500" algn="l" rtl="0">
              <a:lnSpc>
                <a:spcPct val="150000"/>
              </a:lnSpc>
              <a:spcBef>
                <a:spcPts val="0"/>
              </a:spcBef>
              <a:spcAft>
                <a:spcPts val="0"/>
              </a:spcAft>
              <a:buClr>
                <a:srgbClr val="000000"/>
              </a:buClr>
              <a:buSzPts val="1400"/>
              <a:buFont typeface="Proxima Nova"/>
              <a:buChar char="●"/>
            </a:pPr>
            <a:r>
              <a:rPr lang="en" i="0" u="none" strike="noStrike" cap="none">
                <a:solidFill>
                  <a:srgbClr val="000000"/>
                </a:solidFill>
                <a:latin typeface="Proxima Nova"/>
                <a:ea typeface="Proxima Nova"/>
                <a:cs typeface="Proxima Nova"/>
                <a:sym typeface="Proxima Nova"/>
              </a:rPr>
              <a:t>Develop Evidence-Based Policies</a:t>
            </a:r>
            <a:endParaRPr>
              <a:solidFill>
                <a:srgbClr val="000000"/>
              </a:solidFill>
              <a:latin typeface="Proxima Nova"/>
              <a:ea typeface="Proxima Nova"/>
              <a:cs typeface="Proxima Nova"/>
              <a:sym typeface="Proxima Nova"/>
            </a:endParaRPr>
          </a:p>
        </p:txBody>
      </p:sp>
      <p:cxnSp>
        <p:nvCxnSpPr>
          <p:cNvPr id="66" name="Google Shape;66;p14"/>
          <p:cNvCxnSpPr/>
          <p:nvPr/>
        </p:nvCxnSpPr>
        <p:spPr>
          <a:xfrm>
            <a:off x="4618450" y="1199167"/>
            <a:ext cx="0" cy="40620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159556"/>
            <a:ext cx="8520600" cy="636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latin typeface="Proxima Nova"/>
                <a:ea typeface="Proxima Nova"/>
                <a:cs typeface="Proxima Nova"/>
                <a:sym typeface="Proxima Nova"/>
              </a:rPr>
              <a:t>Recap: Data Overview</a:t>
            </a:r>
            <a:endParaRPr sz="1550" b="1">
              <a:latin typeface="Proxima Nova"/>
              <a:ea typeface="Proxima Nova"/>
              <a:cs typeface="Proxima Nova"/>
              <a:sym typeface="Proxima Nova"/>
            </a:endParaRPr>
          </a:p>
        </p:txBody>
      </p:sp>
      <p:sp>
        <p:nvSpPr>
          <p:cNvPr id="72" name="Google Shape;72;p15"/>
          <p:cNvSpPr txBox="1">
            <a:spLocks noGrp="1"/>
          </p:cNvSpPr>
          <p:nvPr>
            <p:ph type="body" idx="1"/>
          </p:nvPr>
        </p:nvSpPr>
        <p:spPr>
          <a:xfrm>
            <a:off x="311700" y="795889"/>
            <a:ext cx="8520600" cy="437400"/>
          </a:xfrm>
          <a:prstGeom prst="rect">
            <a:avLst/>
          </a:prstGeom>
        </p:spPr>
        <p:txBody>
          <a:bodyPr spcFirstLastPara="1" wrap="square" lIns="91425" tIns="91425" rIns="91425" bIns="91425" anchor="t" anchorCtr="0">
            <a:normAutofit/>
          </a:bodyPr>
          <a:lstStyle/>
          <a:p>
            <a:pPr marL="0" lvl="0" indent="0" algn="ctr" rtl="0">
              <a:lnSpc>
                <a:spcPct val="100000"/>
              </a:lnSpc>
              <a:spcBef>
                <a:spcPts val="0"/>
              </a:spcBef>
              <a:spcAft>
                <a:spcPts val="0"/>
              </a:spcAft>
              <a:buNone/>
            </a:pPr>
            <a:r>
              <a:rPr lang="en" sz="1400">
                <a:solidFill>
                  <a:schemeClr val="dk1"/>
                </a:solidFill>
                <a:latin typeface="Proxima Nova"/>
                <a:ea typeface="Proxima Nova"/>
                <a:cs typeface="Proxima Nova"/>
                <a:sym typeface="Proxima Nova"/>
              </a:rPr>
              <a:t>Polytechnic Institute of Portalegre, Portugal | 2008-2019| </a:t>
            </a:r>
            <a:r>
              <a:rPr lang="en" sz="1400" b="1">
                <a:solidFill>
                  <a:schemeClr val="dk1"/>
                </a:solidFill>
                <a:latin typeface="Proxima Nova"/>
                <a:ea typeface="Proxima Nova"/>
                <a:cs typeface="Proxima Nova"/>
                <a:sym typeface="Proxima Nova"/>
              </a:rPr>
              <a:t>4,424 </a:t>
            </a:r>
            <a:r>
              <a:rPr lang="en" sz="1400">
                <a:solidFill>
                  <a:schemeClr val="dk1"/>
                </a:solidFill>
                <a:latin typeface="Proxima Nova"/>
                <a:ea typeface="Proxima Nova"/>
                <a:cs typeface="Proxima Nova"/>
                <a:sym typeface="Proxima Nova"/>
              </a:rPr>
              <a:t>Student Records| </a:t>
            </a:r>
            <a:r>
              <a:rPr lang="en" sz="1400" b="1">
                <a:solidFill>
                  <a:schemeClr val="dk1"/>
                </a:solidFill>
                <a:latin typeface="Proxima Nova"/>
                <a:ea typeface="Proxima Nova"/>
                <a:cs typeface="Proxima Nova"/>
                <a:sym typeface="Proxima Nova"/>
              </a:rPr>
              <a:t>37</a:t>
            </a:r>
            <a:r>
              <a:rPr lang="en" sz="1400">
                <a:solidFill>
                  <a:schemeClr val="dk1"/>
                </a:solidFill>
                <a:latin typeface="Proxima Nova"/>
                <a:ea typeface="Proxima Nova"/>
                <a:cs typeface="Proxima Nova"/>
                <a:sym typeface="Proxima Nova"/>
              </a:rPr>
              <a:t> features</a:t>
            </a:r>
            <a:endParaRPr sz="1400">
              <a:solidFill>
                <a:schemeClr val="dk1"/>
              </a:solidFill>
              <a:latin typeface="Proxima Nova"/>
              <a:ea typeface="Proxima Nova"/>
              <a:cs typeface="Proxima Nova"/>
              <a:sym typeface="Proxima Nova"/>
            </a:endParaRPr>
          </a:p>
        </p:txBody>
      </p:sp>
      <p:sp>
        <p:nvSpPr>
          <p:cNvPr id="73" name="Google Shape;73;p15"/>
          <p:cNvSpPr txBox="1">
            <a:spLocks noGrp="1"/>
          </p:cNvSpPr>
          <p:nvPr>
            <p:ph type="body" idx="1"/>
          </p:nvPr>
        </p:nvSpPr>
        <p:spPr>
          <a:xfrm>
            <a:off x="405775" y="1233225"/>
            <a:ext cx="3062100" cy="3814500"/>
          </a:xfrm>
          <a:prstGeom prst="rect">
            <a:avLst/>
          </a:prstGeom>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0"/>
              </a:spcAft>
              <a:buNone/>
            </a:pPr>
            <a:r>
              <a:rPr lang="en" sz="1400">
                <a:solidFill>
                  <a:schemeClr val="dk1"/>
                </a:solidFill>
                <a:latin typeface="Proxima Nova"/>
                <a:ea typeface="Proxima Nova"/>
                <a:cs typeface="Proxima Nova"/>
                <a:sym typeface="Proxima Nova"/>
              </a:rPr>
              <a:t>Features in the data include: </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AutoNum type="arabicPeriod"/>
            </a:pPr>
            <a:r>
              <a:rPr lang="en" sz="1400">
                <a:solidFill>
                  <a:schemeClr val="dk1"/>
                </a:solidFill>
                <a:latin typeface="Proxima Nova"/>
                <a:ea typeface="Proxima Nova"/>
                <a:cs typeface="Proxima Nova"/>
                <a:sym typeface="Proxima Nova"/>
              </a:rPr>
              <a:t>Marital status</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AutoNum type="arabicPeriod"/>
            </a:pPr>
            <a:r>
              <a:rPr lang="en" sz="1400">
                <a:solidFill>
                  <a:schemeClr val="dk1"/>
                </a:solidFill>
                <a:latin typeface="Proxima Nova"/>
                <a:ea typeface="Proxima Nova"/>
                <a:cs typeface="Proxima Nova"/>
                <a:sym typeface="Proxima Nova"/>
              </a:rPr>
              <a:t>Application order</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AutoNum type="arabicPeriod"/>
            </a:pPr>
            <a:r>
              <a:rPr lang="en" sz="1400">
                <a:solidFill>
                  <a:schemeClr val="dk1"/>
                </a:solidFill>
                <a:latin typeface="Proxima Nova"/>
                <a:ea typeface="Proxima Nova"/>
                <a:cs typeface="Proxima Nova"/>
                <a:sym typeface="Proxima Nova"/>
              </a:rPr>
              <a:t>Daytime/ evening attendance</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AutoNum type="arabicPeriod"/>
            </a:pPr>
            <a:r>
              <a:rPr lang="en" sz="1400">
                <a:solidFill>
                  <a:schemeClr val="dk1"/>
                </a:solidFill>
                <a:latin typeface="Proxima Nova"/>
                <a:ea typeface="Proxima Nova"/>
                <a:cs typeface="Proxima Nova"/>
                <a:sym typeface="Proxima Nova"/>
              </a:rPr>
              <a:t>Gender</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AutoNum type="arabicPeriod"/>
            </a:pPr>
            <a:r>
              <a:rPr lang="en" sz="1400">
                <a:solidFill>
                  <a:schemeClr val="dk1"/>
                </a:solidFill>
                <a:latin typeface="Proxima Nova"/>
                <a:ea typeface="Proxima Nova"/>
                <a:cs typeface="Proxima Nova"/>
                <a:sym typeface="Proxima Nova"/>
              </a:rPr>
              <a:t>Tuition fees up to date</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AutoNum type="arabicPeriod"/>
            </a:pPr>
            <a:r>
              <a:rPr lang="en" sz="1400">
                <a:solidFill>
                  <a:schemeClr val="dk1"/>
                </a:solidFill>
                <a:latin typeface="Proxima Nova"/>
                <a:ea typeface="Proxima Nova"/>
                <a:cs typeface="Proxima Nova"/>
                <a:sym typeface="Proxima Nova"/>
              </a:rPr>
              <a:t>Scholarship holder</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AutoNum type="arabicPeriod"/>
            </a:pPr>
            <a:r>
              <a:rPr lang="en" sz="1400">
                <a:solidFill>
                  <a:schemeClr val="dk1"/>
                </a:solidFill>
                <a:latin typeface="Proxima Nova"/>
                <a:ea typeface="Proxima Nova"/>
                <a:cs typeface="Proxima Nova"/>
                <a:sym typeface="Proxima Nova"/>
              </a:rPr>
              <a:t>International</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AutoNum type="arabicPeriod"/>
            </a:pPr>
            <a:r>
              <a:rPr lang="en" sz="1400">
                <a:solidFill>
                  <a:schemeClr val="dk1"/>
                </a:solidFill>
                <a:latin typeface="Proxima Nova"/>
                <a:ea typeface="Proxima Nova"/>
                <a:cs typeface="Proxima Nova"/>
                <a:sym typeface="Proxima Nova"/>
              </a:rPr>
              <a:t>Debtor</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AutoNum type="arabicPeriod"/>
            </a:pPr>
            <a:r>
              <a:rPr lang="en" sz="1400">
                <a:solidFill>
                  <a:schemeClr val="dk1"/>
                </a:solidFill>
                <a:latin typeface="Proxima Nova"/>
                <a:ea typeface="Proxima Nova"/>
                <a:cs typeface="Proxima Nova"/>
                <a:sym typeface="Proxima Nova"/>
              </a:rPr>
              <a:t>Curricular units 1st sem (enrolled)</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AutoNum type="arabicPeriod"/>
            </a:pPr>
            <a:r>
              <a:rPr lang="en" sz="1400">
                <a:solidFill>
                  <a:schemeClr val="dk1"/>
                </a:solidFill>
                <a:latin typeface="Proxima Nova"/>
                <a:ea typeface="Proxima Nova"/>
                <a:cs typeface="Proxima Nova"/>
                <a:sym typeface="Proxima Nova"/>
              </a:rPr>
              <a:t>Curricular units 1st sem (credited)</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AutoNum type="arabicPeriod"/>
            </a:pPr>
            <a:r>
              <a:rPr lang="en" sz="1400">
                <a:solidFill>
                  <a:schemeClr val="dk1"/>
                </a:solidFill>
                <a:latin typeface="Proxima Nova"/>
                <a:ea typeface="Proxima Nova"/>
                <a:cs typeface="Proxima Nova"/>
                <a:sym typeface="Proxima Nova"/>
              </a:rPr>
              <a:t>Inflation rate</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AutoNum type="arabicPeriod"/>
            </a:pPr>
            <a:r>
              <a:rPr lang="en" sz="1400">
                <a:solidFill>
                  <a:schemeClr val="dk1"/>
                </a:solidFill>
                <a:latin typeface="Proxima Nova"/>
                <a:ea typeface="Proxima Nova"/>
                <a:cs typeface="Proxima Nova"/>
                <a:sym typeface="Proxima Nova"/>
              </a:rPr>
              <a:t>etc</a:t>
            </a:r>
            <a:endParaRPr sz="1400">
              <a:solidFill>
                <a:schemeClr val="dk1"/>
              </a:solidFill>
              <a:latin typeface="Proxima Nova"/>
              <a:ea typeface="Proxima Nova"/>
              <a:cs typeface="Proxima Nova"/>
              <a:sym typeface="Proxima Nova"/>
            </a:endParaRPr>
          </a:p>
        </p:txBody>
      </p:sp>
      <p:pic>
        <p:nvPicPr>
          <p:cNvPr id="74" name="Google Shape;74;p15"/>
          <p:cNvPicPr preferRelativeResize="0"/>
          <p:nvPr/>
        </p:nvPicPr>
        <p:blipFill>
          <a:blip r:embed="rId3">
            <a:alphaModFix/>
          </a:blip>
          <a:stretch>
            <a:fillRect/>
          </a:stretch>
        </p:blipFill>
        <p:spPr>
          <a:xfrm>
            <a:off x="3807575" y="2030106"/>
            <a:ext cx="5184024" cy="3201901"/>
          </a:xfrm>
          <a:prstGeom prst="rect">
            <a:avLst/>
          </a:prstGeom>
          <a:noFill/>
          <a:ln>
            <a:noFill/>
          </a:ln>
        </p:spPr>
      </p:pic>
      <p:sp>
        <p:nvSpPr>
          <p:cNvPr id="75" name="Google Shape;75;p15"/>
          <p:cNvSpPr txBox="1">
            <a:spLocks noGrp="1"/>
          </p:cNvSpPr>
          <p:nvPr>
            <p:ph type="body" idx="1"/>
          </p:nvPr>
        </p:nvSpPr>
        <p:spPr>
          <a:xfrm>
            <a:off x="471000" y="5570700"/>
            <a:ext cx="8520600" cy="298800"/>
          </a:xfrm>
          <a:prstGeom prst="rect">
            <a:avLst/>
          </a:prstGeom>
        </p:spPr>
        <p:txBody>
          <a:bodyPr spcFirstLastPara="1" wrap="square" lIns="91425" tIns="91425" rIns="91425" bIns="91425" anchor="t" anchorCtr="0">
            <a:normAutofit lnSpcReduction="20000"/>
          </a:bodyPr>
          <a:lstStyle/>
          <a:p>
            <a:pPr marL="0" lvl="0" indent="0" algn="ctr" rtl="0">
              <a:lnSpc>
                <a:spcPct val="90000"/>
              </a:lnSpc>
              <a:spcBef>
                <a:spcPts val="0"/>
              </a:spcBef>
              <a:spcAft>
                <a:spcPts val="0"/>
              </a:spcAft>
              <a:buNone/>
            </a:pPr>
            <a:r>
              <a:rPr lang="en" sz="1000" u="sng">
                <a:solidFill>
                  <a:schemeClr val="hlink"/>
                </a:solidFill>
                <a:latin typeface="Proxima Nova"/>
                <a:ea typeface="Proxima Nova"/>
                <a:cs typeface="Proxima Nova"/>
                <a:sym typeface="Proxima Nova"/>
                <a:hlinkClick r:id="rId4"/>
              </a:rPr>
              <a:t>Data source: UCI Machine Learning Library</a:t>
            </a:r>
            <a:endParaRPr sz="1000">
              <a:solidFill>
                <a:schemeClr val="dk1"/>
              </a:solidFill>
              <a:latin typeface="Proxima Nova"/>
              <a:ea typeface="Proxima Nova"/>
              <a:cs typeface="Proxima Nova"/>
              <a:sym typeface="Proxima Nova"/>
            </a:endParaRPr>
          </a:p>
        </p:txBody>
      </p:sp>
      <p:sp>
        <p:nvSpPr>
          <p:cNvPr id="76" name="Google Shape;76;p15"/>
          <p:cNvSpPr txBox="1"/>
          <p:nvPr/>
        </p:nvSpPr>
        <p:spPr>
          <a:xfrm>
            <a:off x="3807575" y="1388350"/>
            <a:ext cx="5118900" cy="388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Proxima Nova"/>
                <a:ea typeface="Proxima Nova"/>
                <a:cs typeface="Proxima Nova"/>
                <a:sym typeface="Proxima Nova"/>
              </a:rPr>
              <a:t>Our dependent variable is categorical with 3 classes (</a:t>
            </a:r>
            <a:r>
              <a:rPr lang="en" sz="1200" b="1">
                <a:solidFill>
                  <a:schemeClr val="dk1"/>
                </a:solidFill>
                <a:latin typeface="Proxima Nova"/>
                <a:ea typeface="Proxima Nova"/>
                <a:cs typeface="Proxima Nova"/>
                <a:sym typeface="Proxima Nova"/>
              </a:rPr>
              <a:t>Dropout, Enrolled, Graduate</a:t>
            </a:r>
            <a:r>
              <a:rPr lang="en" sz="1200">
                <a:solidFill>
                  <a:schemeClr val="dk1"/>
                </a:solidFill>
                <a:latin typeface="Proxima Nova"/>
                <a:ea typeface="Proxima Nova"/>
                <a:cs typeface="Proxima Nova"/>
                <a:sym typeface="Proxima Nova"/>
              </a:rPr>
              <a:t>)</a:t>
            </a:r>
            <a:endParaRPr sz="1200">
              <a:solidFill>
                <a:schemeClr val="dk1"/>
              </a:solidFill>
              <a:latin typeface="Proxima Nova"/>
              <a:ea typeface="Proxima Nova"/>
              <a:cs typeface="Proxima Nova"/>
              <a:sym typeface="Proxima Nova"/>
            </a:endParaRPr>
          </a:p>
        </p:txBody>
      </p:sp>
      <p:cxnSp>
        <p:nvCxnSpPr>
          <p:cNvPr id="77" name="Google Shape;77;p15"/>
          <p:cNvCxnSpPr/>
          <p:nvPr/>
        </p:nvCxnSpPr>
        <p:spPr>
          <a:xfrm>
            <a:off x="3637775" y="1399150"/>
            <a:ext cx="0" cy="3756300"/>
          </a:xfrm>
          <a:prstGeom prst="straightConnector1">
            <a:avLst/>
          </a:prstGeom>
          <a:noFill/>
          <a:ln w="9525" cap="flat" cmpd="sng">
            <a:solidFill>
              <a:schemeClr val="dk2"/>
            </a:solidFill>
            <a:prstDash val="solid"/>
            <a:round/>
            <a:headEnd type="none" w="med" len="med"/>
            <a:tailEnd type="none" w="med" len="med"/>
          </a:ln>
        </p:spPr>
      </p:cxnSp>
      <p:sp>
        <p:nvSpPr>
          <p:cNvPr id="78" name="Google Shape;78;p15"/>
          <p:cNvSpPr txBox="1"/>
          <p:nvPr/>
        </p:nvSpPr>
        <p:spPr>
          <a:xfrm>
            <a:off x="311700" y="5155450"/>
            <a:ext cx="8457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2"/>
                </a:solidFill>
              </a:rPr>
              <a:t>Methodology Note: Data was split 70/30 for training and testing on all models.</a:t>
            </a:r>
            <a:endParaRPr>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6"/>
          <p:cNvSpPr txBox="1">
            <a:spLocks noGrp="1"/>
          </p:cNvSpPr>
          <p:nvPr>
            <p:ph type="body" idx="1"/>
          </p:nvPr>
        </p:nvSpPr>
        <p:spPr>
          <a:xfrm>
            <a:off x="311700" y="795889"/>
            <a:ext cx="8520600" cy="1895700"/>
          </a:xfrm>
          <a:prstGeom prst="rect">
            <a:avLst/>
          </a:prstGeom>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Clr>
                <a:schemeClr val="dk1"/>
              </a:buClr>
              <a:buSzPts val="1400"/>
              <a:buChar char="●"/>
            </a:pPr>
            <a:r>
              <a:rPr lang="en" sz="1400">
                <a:solidFill>
                  <a:schemeClr val="dk1"/>
                </a:solidFill>
              </a:rPr>
              <a:t>Dependent variable: ‘target’</a:t>
            </a:r>
            <a:endParaRPr sz="14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Independent variable: All other variables remaining (36)</a:t>
            </a:r>
            <a:endParaRPr sz="14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The dependent variable is of categorical type with 3 classes: ‘ Dropout’, ‘Graduate’, and ‘Enrolled’.</a:t>
            </a:r>
            <a:endParaRPr sz="14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We developed a Multinomial Logistic Regression - our reference level in the dependent variable was ‘Graduate’</a:t>
            </a:r>
            <a:endParaRPr sz="1400">
              <a:solidFill>
                <a:schemeClr val="dk1"/>
              </a:solidFill>
            </a:endParaRPr>
          </a:p>
        </p:txBody>
      </p:sp>
      <p:sp>
        <p:nvSpPr>
          <p:cNvPr id="84" name="Google Shape;84;p16"/>
          <p:cNvSpPr txBox="1">
            <a:spLocks noGrp="1"/>
          </p:cNvSpPr>
          <p:nvPr>
            <p:ph type="title"/>
          </p:nvPr>
        </p:nvSpPr>
        <p:spPr>
          <a:xfrm>
            <a:off x="311700" y="159556"/>
            <a:ext cx="8520600" cy="636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latin typeface="Proxima Nova"/>
                <a:ea typeface="Proxima Nova"/>
                <a:cs typeface="Proxima Nova"/>
                <a:sym typeface="Proxima Nova"/>
              </a:rPr>
              <a:t>Logistic Regression: Data Modelling</a:t>
            </a:r>
            <a:endParaRPr sz="1550" b="1">
              <a:latin typeface="Proxima Nova"/>
              <a:ea typeface="Proxima Nova"/>
              <a:cs typeface="Proxima Nova"/>
              <a:sym typeface="Proxima Nova"/>
            </a:endParaRPr>
          </a:p>
        </p:txBody>
      </p:sp>
      <p:cxnSp>
        <p:nvCxnSpPr>
          <p:cNvPr id="85" name="Google Shape;85;p16"/>
          <p:cNvCxnSpPr/>
          <p:nvPr/>
        </p:nvCxnSpPr>
        <p:spPr>
          <a:xfrm>
            <a:off x="87500" y="2722444"/>
            <a:ext cx="8916000" cy="0"/>
          </a:xfrm>
          <a:prstGeom prst="straightConnector1">
            <a:avLst/>
          </a:prstGeom>
          <a:noFill/>
          <a:ln w="9525" cap="flat" cmpd="sng">
            <a:solidFill>
              <a:schemeClr val="dk2"/>
            </a:solidFill>
            <a:prstDash val="solid"/>
            <a:round/>
            <a:headEnd type="none" w="med" len="med"/>
            <a:tailEnd type="none" w="med" len="med"/>
          </a:ln>
        </p:spPr>
      </p:cxnSp>
      <p:graphicFrame>
        <p:nvGraphicFramePr>
          <p:cNvPr id="86" name="Google Shape;86;p16"/>
          <p:cNvGraphicFramePr/>
          <p:nvPr/>
        </p:nvGraphicFramePr>
        <p:xfrm>
          <a:off x="87500" y="2857500"/>
          <a:ext cx="3810000" cy="1380597"/>
        </p:xfrm>
        <a:graphic>
          <a:graphicData uri="http://schemas.openxmlformats.org/drawingml/2006/table">
            <a:tbl>
              <a:tblPr>
                <a:noFill/>
                <a:tableStyleId>{8F727CA1-A22B-4835-B2F0-923C0CB78E8B}</a:tableStyleId>
              </a:tblPr>
              <a:tblGrid>
                <a:gridCol w="952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tblGrid>
              <a:tr h="222250">
                <a:tc gridSpan="3">
                  <a:txBody>
                    <a:bodyPr/>
                    <a:lstStyle/>
                    <a:p>
                      <a:pPr marL="0" lvl="0" indent="0" algn="ctr" rtl="0">
                        <a:lnSpc>
                          <a:spcPct val="115000"/>
                        </a:lnSpc>
                        <a:spcBef>
                          <a:spcPts val="0"/>
                        </a:spcBef>
                        <a:spcAft>
                          <a:spcPts val="0"/>
                        </a:spcAft>
                        <a:buNone/>
                      </a:pPr>
                      <a:r>
                        <a:rPr lang="en" sz="1200" b="1">
                          <a:latin typeface="Proxima Nova"/>
                          <a:ea typeface="Proxima Nova"/>
                          <a:cs typeface="Proxima Nova"/>
                          <a:sym typeface="Proxima Nova"/>
                        </a:rPr>
                        <a:t>Data Splitting (70:30)</a:t>
                      </a:r>
                      <a:endParaRPr sz="1200" b="1">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en-US"/>
                    </a:p>
                  </a:txBody>
                  <a:tcPr/>
                </a:tc>
                <a:tc hMerge="1">
                  <a:txBody>
                    <a:bodyPr/>
                    <a:lstStyle/>
                    <a:p>
                      <a:endParaRPr lang="en-US"/>
                    </a:p>
                  </a:txBody>
                  <a:tcPr/>
                </a:tc>
                <a:tc>
                  <a:txBody>
                    <a:bodyPr/>
                    <a:lstStyle/>
                    <a:p>
                      <a:pPr marL="0" lvl="0" indent="0" algn="l" rtl="0">
                        <a:lnSpc>
                          <a:spcPct val="115000"/>
                        </a:lnSpc>
                        <a:spcBef>
                          <a:spcPts val="0"/>
                        </a:spcBef>
                        <a:spcAft>
                          <a:spcPts val="0"/>
                        </a:spcAft>
                        <a:buNone/>
                      </a:pPr>
                      <a:r>
                        <a:rPr lang="en" sz="1200" b="1">
                          <a:latin typeface="Proxima Nova"/>
                          <a:ea typeface="Proxima Nova"/>
                          <a:cs typeface="Proxima Nova"/>
                          <a:sym typeface="Proxima Nova"/>
                        </a:rPr>
                        <a:t>Data Size</a:t>
                      </a:r>
                      <a:endParaRPr sz="1200" b="1">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0"/>
                  </a:ext>
                </a:extLst>
              </a:tr>
              <a:tr h="222250">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Graduate</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Dropout</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Enrolled</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Training Data</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1"/>
                  </a:ext>
                </a:extLst>
              </a:tr>
              <a:tr h="222250">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1546</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994</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555</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3095</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2"/>
                  </a:ext>
                </a:extLst>
              </a:tr>
              <a:tr h="222250">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Graduate</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Dropout</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Enrolled</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Testing Data</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3"/>
                  </a:ext>
                </a:extLst>
              </a:tr>
              <a:tr h="222250">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663</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427</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239</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1329</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aphicFrame>
        <p:nvGraphicFramePr>
          <p:cNvPr id="87" name="Google Shape;87;p16"/>
          <p:cNvGraphicFramePr/>
          <p:nvPr>
            <p:extLst>
              <p:ext uri="{D42A27DB-BD31-4B8C-83A1-F6EECF244321}">
                <p14:modId xmlns:p14="http://schemas.microsoft.com/office/powerpoint/2010/main" val="3923510039"/>
              </p:ext>
            </p:extLst>
          </p:nvPr>
        </p:nvGraphicFramePr>
        <p:xfrm>
          <a:off x="87500" y="4385159"/>
          <a:ext cx="3810000" cy="1170285"/>
        </p:xfrm>
        <a:graphic>
          <a:graphicData uri="http://schemas.openxmlformats.org/drawingml/2006/table">
            <a:tbl>
              <a:tblPr>
                <a:noFill/>
                <a:tableStyleId>{8F727CA1-A22B-4835-B2F0-923C0CB78E8B}</a:tableStyleId>
              </a:tblPr>
              <a:tblGrid>
                <a:gridCol w="127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tblGrid>
              <a:tr h="222250">
                <a:tc gridSpan="3">
                  <a:txBody>
                    <a:bodyPr/>
                    <a:lstStyle/>
                    <a:p>
                      <a:pPr marL="0" lvl="0" indent="0" algn="ctr" rtl="0">
                        <a:lnSpc>
                          <a:spcPct val="115000"/>
                        </a:lnSpc>
                        <a:spcBef>
                          <a:spcPts val="0"/>
                        </a:spcBef>
                        <a:spcAft>
                          <a:spcPts val="0"/>
                        </a:spcAft>
                        <a:buNone/>
                      </a:pPr>
                      <a:r>
                        <a:rPr lang="en" sz="1200" b="1">
                          <a:latin typeface="Proxima Nova"/>
                          <a:ea typeface="Proxima Nova"/>
                          <a:cs typeface="Proxima Nova"/>
                          <a:sym typeface="Proxima Nova"/>
                        </a:rPr>
                        <a:t>Class balance was preserved in both data sets</a:t>
                      </a:r>
                      <a:endParaRPr sz="1200" b="1">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22250">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Graduate</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Dropout</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Enrolled</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1"/>
                  </a:ext>
                </a:extLst>
              </a:tr>
              <a:tr h="222250">
                <a:tc>
                  <a:txBody>
                    <a:bodyPr/>
                    <a:lstStyle/>
                    <a:p>
                      <a:pPr marL="0" lvl="0" indent="0" algn="r" rtl="0">
                        <a:lnSpc>
                          <a:spcPct val="115000"/>
                        </a:lnSpc>
                        <a:spcBef>
                          <a:spcPts val="0"/>
                        </a:spcBef>
                        <a:spcAft>
                          <a:spcPts val="0"/>
                        </a:spcAft>
                        <a:buNone/>
                      </a:pPr>
                      <a:r>
                        <a:rPr lang="en" sz="1200" dirty="0">
                          <a:latin typeface="Proxima Nova"/>
                          <a:ea typeface="Proxima Nova"/>
                          <a:cs typeface="Proxima Nova"/>
                          <a:sym typeface="Proxima Nova"/>
                        </a:rPr>
                        <a:t>0.4995153</a:t>
                      </a:r>
                      <a:endParaRPr sz="1200" dirty="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0.3211632</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0.1793215</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2"/>
                  </a:ext>
                </a:extLst>
              </a:tr>
              <a:tr h="222250">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Graduate</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Dropout</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Enrolled</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3"/>
                  </a:ext>
                </a:extLst>
              </a:tr>
              <a:tr h="222250">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0.4988713</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0.3212942</a:t>
                      </a:r>
                      <a:endParaRPr sz="120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dirty="0">
                          <a:latin typeface="Proxima Nova"/>
                          <a:ea typeface="Proxima Nova"/>
                          <a:cs typeface="Proxima Nova"/>
                          <a:sym typeface="Proxima Nova"/>
                        </a:rPr>
                        <a:t>0.1798345</a:t>
                      </a:r>
                      <a:endParaRPr sz="1200" dirty="0">
                        <a:latin typeface="Proxima Nova"/>
                        <a:ea typeface="Proxima Nova"/>
                        <a:cs typeface="Proxima Nova"/>
                        <a:sym typeface="Proxima Nova"/>
                      </a:endParaRPr>
                    </a:p>
                  </a:txBody>
                  <a:tcPr marL="28575" marR="28575" marT="21175" marB="21175"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88" name="Google Shape;88;p16"/>
          <p:cNvSpPr txBox="1">
            <a:spLocks noGrp="1"/>
          </p:cNvSpPr>
          <p:nvPr>
            <p:ph type="body" idx="1"/>
          </p:nvPr>
        </p:nvSpPr>
        <p:spPr>
          <a:xfrm>
            <a:off x="4180925" y="2857500"/>
            <a:ext cx="4822500" cy="2673600"/>
          </a:xfrm>
          <a:prstGeom prst="rect">
            <a:avLst/>
          </a:prstGeom>
        </p:spPr>
        <p:txBody>
          <a:bodyPr spcFirstLastPara="1" wrap="square" lIns="91425" tIns="91425" rIns="91425" bIns="91425" anchor="t" anchorCtr="0">
            <a:normAutofit lnSpcReduction="20000"/>
          </a:bodyPr>
          <a:lstStyle/>
          <a:p>
            <a:pPr marL="0" lvl="0" indent="0" algn="l" rtl="0">
              <a:lnSpc>
                <a:spcPct val="115000"/>
              </a:lnSpc>
              <a:spcBef>
                <a:spcPts val="0"/>
              </a:spcBef>
              <a:spcAft>
                <a:spcPts val="0"/>
              </a:spcAft>
              <a:buNone/>
            </a:pPr>
            <a:r>
              <a:rPr lang="en" sz="1400">
                <a:solidFill>
                  <a:schemeClr val="dk1"/>
                </a:solidFill>
                <a:latin typeface="Proxima Nova"/>
                <a:ea typeface="Proxima Nova"/>
                <a:cs typeface="Proxima Nova"/>
                <a:sym typeface="Proxima Nova"/>
              </a:rPr>
              <a:t>We checked for collinearity using the Variable inflation factor and removed more than 10 variables, some of which include:</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1200"/>
              </a:spcBef>
              <a:spcAft>
                <a:spcPts val="0"/>
              </a:spcAft>
              <a:buClr>
                <a:schemeClr val="dk1"/>
              </a:buClr>
              <a:buSzPts val="1400"/>
              <a:buFont typeface="Proxima Nova"/>
              <a:buChar char="●"/>
            </a:pPr>
            <a:r>
              <a:rPr lang="en" sz="1400">
                <a:solidFill>
                  <a:schemeClr val="dk1"/>
                </a:solidFill>
                <a:latin typeface="Proxima Nova"/>
                <a:ea typeface="Proxima Nova"/>
                <a:cs typeface="Proxima Nova"/>
                <a:sym typeface="Proxima Nova"/>
              </a:rPr>
              <a:t>Mother’s occupation</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Char char="●"/>
            </a:pPr>
            <a:r>
              <a:rPr lang="en" sz="1400">
                <a:solidFill>
                  <a:schemeClr val="dk1"/>
                </a:solidFill>
                <a:latin typeface="Proxima Nova"/>
                <a:ea typeface="Proxima Nova"/>
                <a:cs typeface="Proxima Nova"/>
                <a:sym typeface="Proxima Nova"/>
              </a:rPr>
              <a:t>Father’s qualification</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Char char="●"/>
            </a:pPr>
            <a:r>
              <a:rPr lang="en" sz="1400">
                <a:solidFill>
                  <a:schemeClr val="dk1"/>
                </a:solidFill>
                <a:latin typeface="Proxima Nova"/>
                <a:ea typeface="Proxima Nova"/>
                <a:cs typeface="Proxima Nova"/>
                <a:sym typeface="Proxima Nova"/>
              </a:rPr>
              <a:t>Curriucular units 1st sem credited</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Char char="●"/>
            </a:pPr>
            <a:r>
              <a:rPr lang="en" sz="1400">
                <a:solidFill>
                  <a:schemeClr val="dk1"/>
                </a:solidFill>
                <a:latin typeface="Proxima Nova"/>
                <a:ea typeface="Proxima Nova"/>
                <a:cs typeface="Proxima Nova"/>
                <a:sym typeface="Proxima Nova"/>
              </a:rPr>
              <a:t>Curriucular units 1st sem enrolled</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Char char="●"/>
            </a:pPr>
            <a:r>
              <a:rPr lang="en" sz="1400">
                <a:solidFill>
                  <a:schemeClr val="dk1"/>
                </a:solidFill>
                <a:latin typeface="Proxima Nova"/>
                <a:ea typeface="Proxima Nova"/>
                <a:cs typeface="Proxima Nova"/>
                <a:sym typeface="Proxima Nova"/>
              </a:rPr>
              <a:t>Curriucular units 1st sem approved</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Char char="●"/>
            </a:pPr>
            <a:r>
              <a:rPr lang="en" sz="1400">
                <a:solidFill>
                  <a:schemeClr val="dk1"/>
                </a:solidFill>
                <a:latin typeface="Proxima Nova"/>
                <a:ea typeface="Proxima Nova"/>
                <a:cs typeface="Proxima Nova"/>
                <a:sym typeface="Proxima Nova"/>
              </a:rPr>
              <a:t>Curriucular units 1st sem grade</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Char char="●"/>
            </a:pPr>
            <a:r>
              <a:rPr lang="en" sz="1400">
                <a:solidFill>
                  <a:schemeClr val="dk1"/>
                </a:solidFill>
                <a:latin typeface="Proxima Nova"/>
                <a:ea typeface="Proxima Nova"/>
                <a:cs typeface="Proxima Nova"/>
                <a:sym typeface="Proxima Nova"/>
              </a:rPr>
              <a:t>Curriucular units 2nd sem credited</a:t>
            </a:r>
            <a:endParaRPr sz="1400">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Char char="●"/>
            </a:pPr>
            <a:r>
              <a:rPr lang="en" sz="1400">
                <a:solidFill>
                  <a:schemeClr val="dk1"/>
                </a:solidFill>
                <a:latin typeface="Proxima Nova"/>
                <a:ea typeface="Proxima Nova"/>
                <a:cs typeface="Proxima Nova"/>
                <a:sym typeface="Proxima Nova"/>
              </a:rPr>
              <a:t>Curriucular units 2nd sem enrolled</a:t>
            </a:r>
            <a:endParaRPr sz="1400">
              <a:solidFill>
                <a:schemeClr val="dk1"/>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3" name="Google Shape;93;p17"/>
          <p:cNvPicPr preferRelativeResize="0"/>
          <p:nvPr/>
        </p:nvPicPr>
        <p:blipFill rotWithShape="1">
          <a:blip r:embed="rId3">
            <a:alphaModFix/>
          </a:blip>
          <a:srcRect r="16002"/>
          <a:stretch/>
        </p:blipFill>
        <p:spPr>
          <a:xfrm>
            <a:off x="1371666" y="0"/>
            <a:ext cx="7772336" cy="5715000"/>
          </a:xfrm>
          <a:prstGeom prst="rect">
            <a:avLst/>
          </a:prstGeom>
          <a:noFill/>
          <a:ln>
            <a:noFill/>
          </a:ln>
        </p:spPr>
      </p:pic>
      <p:sp>
        <p:nvSpPr>
          <p:cNvPr id="94" name="Google Shape;94;p17"/>
          <p:cNvSpPr txBox="1">
            <a:spLocks noGrp="1"/>
          </p:cNvSpPr>
          <p:nvPr>
            <p:ph type="body" idx="1"/>
          </p:nvPr>
        </p:nvSpPr>
        <p:spPr>
          <a:xfrm>
            <a:off x="311700" y="795900"/>
            <a:ext cx="2594100" cy="3778200"/>
          </a:xfrm>
          <a:prstGeom prst="rect">
            <a:avLst/>
          </a:prstGeom>
        </p:spPr>
        <p:txBody>
          <a:bodyPr spcFirstLastPara="1" wrap="square" lIns="91425" tIns="91425" rIns="91425" bIns="91425" anchor="t" anchorCtr="0">
            <a:normAutofit lnSpcReduction="10000"/>
          </a:bodyPr>
          <a:lstStyle/>
          <a:p>
            <a:pPr marL="457200" lvl="0" indent="-317500" algn="l" rtl="0">
              <a:lnSpc>
                <a:spcPct val="150000"/>
              </a:lnSpc>
              <a:spcBef>
                <a:spcPts val="0"/>
              </a:spcBef>
              <a:spcAft>
                <a:spcPts val="0"/>
              </a:spcAft>
              <a:buClr>
                <a:schemeClr val="dk1"/>
              </a:buClr>
              <a:buSzPts val="1400"/>
              <a:buFont typeface="Proxima Nova"/>
              <a:buChar char="●"/>
            </a:pPr>
            <a:r>
              <a:rPr lang="en" sz="1400">
                <a:solidFill>
                  <a:schemeClr val="dk1"/>
                </a:solidFill>
                <a:latin typeface="Proxima Nova"/>
                <a:ea typeface="Proxima Nova"/>
                <a:cs typeface="Proxima Nova"/>
                <a:sym typeface="Proxima Nova"/>
              </a:rPr>
              <a:t>Variables with a VIF of more than 10 were removed (very high correlation)</a:t>
            </a:r>
            <a:endParaRPr sz="1400">
              <a:solidFill>
                <a:schemeClr val="dk1"/>
              </a:solidFill>
              <a:latin typeface="Proxima Nova"/>
              <a:ea typeface="Proxima Nova"/>
              <a:cs typeface="Proxima Nova"/>
              <a:sym typeface="Proxima Nova"/>
            </a:endParaRPr>
          </a:p>
          <a:p>
            <a:pPr marL="457200" lvl="0" indent="-317500" algn="l" rtl="0">
              <a:lnSpc>
                <a:spcPct val="150000"/>
              </a:lnSpc>
              <a:spcBef>
                <a:spcPts val="0"/>
              </a:spcBef>
              <a:spcAft>
                <a:spcPts val="0"/>
              </a:spcAft>
              <a:buClr>
                <a:schemeClr val="dk1"/>
              </a:buClr>
              <a:buSzPts val="1400"/>
              <a:buFont typeface="Proxima Nova"/>
              <a:buChar char="●"/>
            </a:pPr>
            <a:r>
              <a:rPr lang="en" sz="1400">
                <a:solidFill>
                  <a:schemeClr val="dk1"/>
                </a:solidFill>
                <a:latin typeface="Proxima Nova"/>
                <a:ea typeface="Proxima Nova"/>
                <a:cs typeface="Proxima Nova"/>
                <a:sym typeface="Proxima Nova"/>
              </a:rPr>
              <a:t>We did  a pairwise correlation for variables with a VIF with more than 5 but less than 10 (moderate correlation and pick the variable that was more meaningful.</a:t>
            </a:r>
            <a:endParaRPr sz="1400">
              <a:solidFill>
                <a:schemeClr val="dk1"/>
              </a:solidFill>
              <a:latin typeface="Proxima Nova"/>
              <a:ea typeface="Proxima Nova"/>
              <a:cs typeface="Proxima Nova"/>
              <a:sym typeface="Proxima Nova"/>
            </a:endParaRPr>
          </a:p>
        </p:txBody>
      </p:sp>
      <p:sp>
        <p:nvSpPr>
          <p:cNvPr id="95" name="Google Shape;95;p17"/>
          <p:cNvSpPr txBox="1">
            <a:spLocks noGrp="1"/>
          </p:cNvSpPr>
          <p:nvPr>
            <p:ph type="title"/>
          </p:nvPr>
        </p:nvSpPr>
        <p:spPr>
          <a:xfrm>
            <a:off x="311700" y="159556"/>
            <a:ext cx="8520600" cy="636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latin typeface="Proxima Nova"/>
                <a:ea typeface="Proxima Nova"/>
                <a:cs typeface="Proxima Nova"/>
                <a:sym typeface="Proxima Nova"/>
              </a:rPr>
              <a:t>Logistic Regression: Data Modelling</a:t>
            </a:r>
            <a:endParaRPr sz="1550" b="1">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a:spLocks noGrp="1"/>
          </p:cNvSpPr>
          <p:nvPr>
            <p:ph type="title"/>
          </p:nvPr>
        </p:nvSpPr>
        <p:spPr>
          <a:xfrm>
            <a:off x="225775" y="6"/>
            <a:ext cx="8520600" cy="636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latin typeface="Proxima Nova"/>
                <a:ea typeface="Proxima Nova"/>
                <a:cs typeface="Proxima Nova"/>
                <a:sym typeface="Proxima Nova"/>
              </a:rPr>
              <a:t>Logistic Regression: Model Results</a:t>
            </a:r>
            <a:endParaRPr sz="1550" b="1">
              <a:latin typeface="Proxima Nova"/>
              <a:ea typeface="Proxima Nova"/>
              <a:cs typeface="Proxima Nova"/>
              <a:sym typeface="Proxima Nova"/>
            </a:endParaRPr>
          </a:p>
        </p:txBody>
      </p:sp>
      <p:pic>
        <p:nvPicPr>
          <p:cNvPr id="101" name="Google Shape;101;p18"/>
          <p:cNvPicPr preferRelativeResize="0"/>
          <p:nvPr/>
        </p:nvPicPr>
        <p:blipFill>
          <a:blip r:embed="rId3">
            <a:alphaModFix/>
          </a:blip>
          <a:stretch>
            <a:fillRect/>
          </a:stretch>
        </p:blipFill>
        <p:spPr>
          <a:xfrm>
            <a:off x="317450" y="1678675"/>
            <a:ext cx="5782374" cy="3573500"/>
          </a:xfrm>
          <a:prstGeom prst="rect">
            <a:avLst/>
          </a:prstGeom>
          <a:noFill/>
          <a:ln>
            <a:noFill/>
          </a:ln>
        </p:spPr>
      </p:pic>
      <p:sp>
        <p:nvSpPr>
          <p:cNvPr id="102" name="Google Shape;102;p18"/>
          <p:cNvSpPr txBox="1">
            <a:spLocks noGrp="1"/>
          </p:cNvSpPr>
          <p:nvPr>
            <p:ph type="body" idx="1"/>
          </p:nvPr>
        </p:nvSpPr>
        <p:spPr>
          <a:xfrm>
            <a:off x="6241375" y="1435513"/>
            <a:ext cx="2814000" cy="4235100"/>
          </a:xfrm>
          <a:prstGeom prst="rect">
            <a:avLst/>
          </a:prstGeom>
        </p:spPr>
        <p:txBody>
          <a:bodyPr spcFirstLastPara="1" wrap="square" lIns="91425" tIns="91425" rIns="91425" bIns="91425" anchor="t" anchorCtr="0">
            <a:noAutofit/>
          </a:bodyPr>
          <a:lstStyle/>
          <a:p>
            <a:pPr marL="457200" lvl="0" indent="-292100" algn="l" rtl="0">
              <a:spcBef>
                <a:spcPts val="0"/>
              </a:spcBef>
              <a:spcAft>
                <a:spcPts val="0"/>
              </a:spcAft>
              <a:buClr>
                <a:schemeClr val="dk1"/>
              </a:buClr>
              <a:buSzPts val="1000"/>
              <a:buFont typeface="Proxima Nova"/>
              <a:buChar char="●"/>
            </a:pPr>
            <a:r>
              <a:rPr lang="en" sz="1000">
                <a:solidFill>
                  <a:schemeClr val="dk1"/>
                </a:solidFill>
                <a:latin typeface="Proxima Nova"/>
                <a:ea typeface="Proxima Nova"/>
                <a:cs typeface="Proxima Nova"/>
                <a:sym typeface="Proxima Nova"/>
              </a:rPr>
              <a:t>Our strongest risk factor to dropout is debt.</a:t>
            </a:r>
            <a:endParaRPr sz="1000">
              <a:solidFill>
                <a:schemeClr val="dk1"/>
              </a:solidFill>
              <a:latin typeface="Proxima Nova"/>
              <a:ea typeface="Proxima Nova"/>
              <a:cs typeface="Proxima Nova"/>
              <a:sym typeface="Proxima Nova"/>
            </a:endParaRPr>
          </a:p>
          <a:p>
            <a:pPr marL="914400" lvl="1" indent="-292100" algn="l" rtl="0">
              <a:spcBef>
                <a:spcPts val="0"/>
              </a:spcBef>
              <a:spcAft>
                <a:spcPts val="0"/>
              </a:spcAft>
              <a:buClr>
                <a:schemeClr val="dk1"/>
              </a:buClr>
              <a:buSzPts val="1000"/>
              <a:buFont typeface="Proxima Nova"/>
              <a:buChar char="○"/>
            </a:pPr>
            <a:r>
              <a:rPr lang="en" sz="1000">
                <a:solidFill>
                  <a:schemeClr val="dk1"/>
                </a:solidFill>
                <a:latin typeface="Proxima Nova"/>
                <a:ea typeface="Proxima Nova"/>
                <a:cs typeface="Proxima Nova"/>
                <a:sym typeface="Proxima Nova"/>
              </a:rPr>
              <a:t>Being a debtor makes a student </a:t>
            </a:r>
            <a:r>
              <a:rPr lang="en" sz="1000" b="1">
                <a:solidFill>
                  <a:srgbClr val="CC0000"/>
                </a:solidFill>
                <a:latin typeface="Proxima Nova"/>
                <a:ea typeface="Proxima Nova"/>
                <a:cs typeface="Proxima Nova"/>
                <a:sym typeface="Proxima Nova"/>
              </a:rPr>
              <a:t>2.6x more</a:t>
            </a:r>
            <a:r>
              <a:rPr lang="en" sz="1000">
                <a:solidFill>
                  <a:schemeClr val="dk1"/>
                </a:solidFill>
                <a:latin typeface="Proxima Nova"/>
                <a:ea typeface="Proxima Nova"/>
                <a:cs typeface="Proxima Nova"/>
                <a:sym typeface="Proxima Nova"/>
              </a:rPr>
              <a:t> likely to dropout than graduate.</a:t>
            </a:r>
            <a:endParaRPr sz="1000">
              <a:solidFill>
                <a:schemeClr val="dk1"/>
              </a:solidFill>
              <a:latin typeface="Proxima Nova"/>
              <a:ea typeface="Proxima Nova"/>
              <a:cs typeface="Proxima Nova"/>
              <a:sym typeface="Proxima Nova"/>
            </a:endParaRPr>
          </a:p>
          <a:p>
            <a:pPr marL="457200" lvl="0" indent="-292100" algn="l" rtl="0">
              <a:spcBef>
                <a:spcPts val="0"/>
              </a:spcBef>
              <a:spcAft>
                <a:spcPts val="0"/>
              </a:spcAft>
              <a:buClr>
                <a:schemeClr val="dk1"/>
              </a:buClr>
              <a:buSzPts val="1000"/>
              <a:buFont typeface="Proxima Nova"/>
              <a:buChar char="●"/>
            </a:pPr>
            <a:r>
              <a:rPr lang="en" sz="1000">
                <a:solidFill>
                  <a:schemeClr val="dk1"/>
                </a:solidFill>
                <a:latin typeface="Proxima Nova"/>
                <a:ea typeface="Proxima Nova"/>
                <a:cs typeface="Proxima Nova"/>
                <a:sym typeface="Proxima Nova"/>
              </a:rPr>
              <a:t>Having </a:t>
            </a:r>
            <a:r>
              <a:rPr lang="en" sz="1000" b="1">
                <a:solidFill>
                  <a:srgbClr val="1B9579"/>
                </a:solidFill>
                <a:latin typeface="Proxima Nova"/>
                <a:ea typeface="Proxima Nova"/>
                <a:cs typeface="Proxima Nova"/>
                <a:sym typeface="Proxima Nova"/>
              </a:rPr>
              <a:t>tuition fees up to date</a:t>
            </a:r>
            <a:r>
              <a:rPr lang="en" sz="1000">
                <a:solidFill>
                  <a:schemeClr val="dk1"/>
                </a:solidFill>
                <a:latin typeface="Proxima Nova"/>
                <a:ea typeface="Proxima Nova"/>
                <a:cs typeface="Proxima Nova"/>
                <a:sym typeface="Proxima Nova"/>
              </a:rPr>
              <a:t> (financial stability) is the strongest positive factor.</a:t>
            </a:r>
            <a:endParaRPr sz="1000">
              <a:solidFill>
                <a:schemeClr val="dk1"/>
              </a:solidFill>
              <a:latin typeface="Proxima Nova"/>
              <a:ea typeface="Proxima Nova"/>
              <a:cs typeface="Proxima Nova"/>
              <a:sym typeface="Proxima Nova"/>
            </a:endParaRPr>
          </a:p>
          <a:p>
            <a:pPr marL="914400" lvl="1" indent="-292100" algn="l" rtl="0">
              <a:spcBef>
                <a:spcPts val="0"/>
              </a:spcBef>
              <a:spcAft>
                <a:spcPts val="0"/>
              </a:spcAft>
              <a:buClr>
                <a:schemeClr val="dk1"/>
              </a:buClr>
              <a:buSzPts val="1000"/>
              <a:buFont typeface="Proxima Nova"/>
              <a:buChar char="○"/>
            </a:pPr>
            <a:r>
              <a:rPr lang="en" sz="1000">
                <a:solidFill>
                  <a:schemeClr val="dk1"/>
                </a:solidFill>
                <a:latin typeface="Proxima Nova"/>
                <a:ea typeface="Proxima Nova"/>
                <a:cs typeface="Proxima Nova"/>
                <a:sym typeface="Proxima Nova"/>
              </a:rPr>
              <a:t>Students with fees paid are </a:t>
            </a:r>
            <a:r>
              <a:rPr lang="en" sz="1000" b="1">
                <a:solidFill>
                  <a:srgbClr val="CC0000"/>
                </a:solidFill>
                <a:latin typeface="Proxima Nova"/>
                <a:ea typeface="Proxima Nova"/>
                <a:cs typeface="Proxima Nova"/>
                <a:sym typeface="Proxima Nova"/>
              </a:rPr>
              <a:t>94% less</a:t>
            </a:r>
            <a:r>
              <a:rPr lang="en" sz="1000">
                <a:solidFill>
                  <a:schemeClr val="dk1"/>
                </a:solidFill>
                <a:latin typeface="Proxima Nova"/>
                <a:ea typeface="Proxima Nova"/>
                <a:cs typeface="Proxima Nova"/>
                <a:sym typeface="Proxima Nova"/>
              </a:rPr>
              <a:t> likely to drop out.</a:t>
            </a:r>
            <a:endParaRPr sz="1000">
              <a:solidFill>
                <a:schemeClr val="dk1"/>
              </a:solidFill>
              <a:latin typeface="Proxima Nova"/>
              <a:ea typeface="Proxima Nova"/>
              <a:cs typeface="Proxima Nova"/>
              <a:sym typeface="Proxima Nova"/>
            </a:endParaRPr>
          </a:p>
          <a:p>
            <a:pPr marL="457200" lvl="0" indent="-292100" algn="l" rtl="0">
              <a:spcBef>
                <a:spcPts val="0"/>
              </a:spcBef>
              <a:spcAft>
                <a:spcPts val="0"/>
              </a:spcAft>
              <a:buClr>
                <a:schemeClr val="dk1"/>
              </a:buClr>
              <a:buSzPts val="1000"/>
              <a:buFont typeface="Proxima Nova"/>
              <a:buChar char="●"/>
            </a:pPr>
            <a:r>
              <a:rPr lang="en" sz="1000">
                <a:solidFill>
                  <a:schemeClr val="dk1"/>
                </a:solidFill>
                <a:latin typeface="Proxima Nova"/>
                <a:ea typeface="Proxima Nova"/>
                <a:cs typeface="Proxima Nova"/>
                <a:sym typeface="Proxima Nova"/>
              </a:rPr>
              <a:t>Financial factors dominate both sides.</a:t>
            </a:r>
            <a:endParaRPr sz="1000">
              <a:solidFill>
                <a:schemeClr val="dk1"/>
              </a:solidFill>
              <a:latin typeface="Proxima Nova"/>
              <a:ea typeface="Proxima Nova"/>
              <a:cs typeface="Proxima Nova"/>
              <a:sym typeface="Proxima Nova"/>
            </a:endParaRPr>
          </a:p>
          <a:p>
            <a:pPr marL="914400" lvl="1" indent="-298450" algn="l" rtl="0">
              <a:spcBef>
                <a:spcPts val="0"/>
              </a:spcBef>
              <a:spcAft>
                <a:spcPts val="0"/>
              </a:spcAft>
              <a:buClr>
                <a:schemeClr val="dk1"/>
              </a:buClr>
              <a:buSzPts val="1100"/>
              <a:buChar char="○"/>
            </a:pPr>
            <a:r>
              <a:rPr lang="en" sz="1000">
                <a:solidFill>
                  <a:schemeClr val="dk1"/>
                </a:solidFill>
                <a:latin typeface="Proxima Nova"/>
                <a:ea typeface="Proxima Nova"/>
                <a:cs typeface="Proxima Nova"/>
                <a:sym typeface="Proxima Nova"/>
              </a:rPr>
              <a:t>Financial support such as education bursaries, scholarships, etc are the single most powerful intervention point.</a:t>
            </a:r>
            <a:endParaRPr sz="1000">
              <a:solidFill>
                <a:schemeClr val="dk1"/>
              </a:solidFill>
              <a:latin typeface="Proxima Nova"/>
              <a:ea typeface="Proxima Nova"/>
              <a:cs typeface="Proxima Nova"/>
              <a:sym typeface="Proxima Nova"/>
            </a:endParaRPr>
          </a:p>
          <a:p>
            <a:pPr marL="457200" lvl="0" indent="-298450" algn="l" rtl="0">
              <a:spcBef>
                <a:spcPts val="0"/>
              </a:spcBef>
              <a:spcAft>
                <a:spcPts val="0"/>
              </a:spcAft>
              <a:buClr>
                <a:schemeClr val="dk1"/>
              </a:buClr>
              <a:buSzPts val="1100"/>
              <a:buChar char="●"/>
            </a:pPr>
            <a:r>
              <a:rPr lang="en" sz="1000">
                <a:solidFill>
                  <a:schemeClr val="dk1"/>
                </a:solidFill>
                <a:latin typeface="Proxima Nova"/>
                <a:ea typeface="Proxima Nova"/>
                <a:cs typeface="Proxima Nova"/>
                <a:sym typeface="Proxima Nova"/>
              </a:rPr>
              <a:t>Academic performance in the 2nd semester (units approved) is the </a:t>
            </a:r>
            <a:r>
              <a:rPr lang="en" sz="1000" b="1">
                <a:solidFill>
                  <a:srgbClr val="1B9579"/>
                </a:solidFill>
                <a:latin typeface="Proxima Nova"/>
                <a:ea typeface="Proxima Nova"/>
                <a:cs typeface="Proxima Nova"/>
                <a:sym typeface="Proxima Nova"/>
              </a:rPr>
              <a:t>second most important domain</a:t>
            </a:r>
            <a:r>
              <a:rPr lang="en" sz="1000">
                <a:solidFill>
                  <a:schemeClr val="dk1"/>
                </a:solidFill>
                <a:latin typeface="Proxima Nova"/>
                <a:ea typeface="Proxima Nova"/>
                <a:cs typeface="Proxima Nova"/>
                <a:sym typeface="Proxima Nova"/>
              </a:rPr>
              <a:t>.</a:t>
            </a:r>
            <a:endParaRPr sz="1000">
              <a:solidFill>
                <a:schemeClr val="dk1"/>
              </a:solidFill>
              <a:latin typeface="Proxima Nova"/>
              <a:ea typeface="Proxima Nova"/>
              <a:cs typeface="Proxima Nova"/>
              <a:sym typeface="Proxima Nova"/>
            </a:endParaRPr>
          </a:p>
          <a:p>
            <a:pPr marL="457200" lvl="0" indent="-298450" algn="l" rtl="0">
              <a:spcBef>
                <a:spcPts val="0"/>
              </a:spcBef>
              <a:spcAft>
                <a:spcPts val="0"/>
              </a:spcAft>
              <a:buClr>
                <a:schemeClr val="dk1"/>
              </a:buClr>
              <a:buSzPts val="1100"/>
              <a:buChar char="●"/>
            </a:pPr>
            <a:r>
              <a:rPr lang="en" sz="1000" b="1">
                <a:solidFill>
                  <a:srgbClr val="1B9579"/>
                </a:solidFill>
                <a:latin typeface="Proxima Nova"/>
                <a:ea typeface="Proxima Nova"/>
                <a:cs typeface="Proxima Nova"/>
                <a:sym typeface="Proxima Nova"/>
              </a:rPr>
              <a:t>Demographics</a:t>
            </a:r>
            <a:r>
              <a:rPr lang="en" sz="1000">
                <a:solidFill>
                  <a:schemeClr val="dk1"/>
                </a:solidFill>
                <a:latin typeface="Proxima Nova"/>
                <a:ea typeface="Proxima Nova"/>
                <a:cs typeface="Proxima Nova"/>
                <a:sym typeface="Proxima Nova"/>
              </a:rPr>
              <a:t> like gender, age, special needs play a role but are </a:t>
            </a:r>
            <a:r>
              <a:rPr lang="en" sz="1000" b="1">
                <a:solidFill>
                  <a:schemeClr val="dk1"/>
                </a:solidFill>
                <a:latin typeface="Proxima Nova"/>
                <a:ea typeface="Proxima Nova"/>
                <a:cs typeface="Proxima Nova"/>
                <a:sym typeface="Proxima Nova"/>
              </a:rPr>
              <a:t>less dominant than financial and academic factors.</a:t>
            </a:r>
            <a:endParaRPr sz="1000" b="1">
              <a:solidFill>
                <a:schemeClr val="dk1"/>
              </a:solidFill>
              <a:latin typeface="Proxima Nova"/>
              <a:ea typeface="Proxima Nova"/>
              <a:cs typeface="Proxima Nova"/>
              <a:sym typeface="Proxima Nova"/>
            </a:endParaRPr>
          </a:p>
        </p:txBody>
      </p:sp>
      <p:cxnSp>
        <p:nvCxnSpPr>
          <p:cNvPr id="103" name="Google Shape;103;p18"/>
          <p:cNvCxnSpPr/>
          <p:nvPr/>
        </p:nvCxnSpPr>
        <p:spPr>
          <a:xfrm>
            <a:off x="6169088" y="1404613"/>
            <a:ext cx="3000" cy="4296900"/>
          </a:xfrm>
          <a:prstGeom prst="straightConnector1">
            <a:avLst/>
          </a:prstGeom>
          <a:noFill/>
          <a:ln w="9525" cap="flat" cmpd="sng">
            <a:solidFill>
              <a:schemeClr val="dk2"/>
            </a:solidFill>
            <a:prstDash val="solid"/>
            <a:round/>
            <a:headEnd type="none" w="med" len="med"/>
            <a:tailEnd type="none" w="med" len="med"/>
          </a:ln>
        </p:spPr>
      </p:cxnSp>
      <p:sp>
        <p:nvSpPr>
          <p:cNvPr id="104" name="Google Shape;104;p18"/>
          <p:cNvSpPr txBox="1"/>
          <p:nvPr/>
        </p:nvSpPr>
        <p:spPr>
          <a:xfrm>
            <a:off x="75500" y="1311625"/>
            <a:ext cx="6093600" cy="334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b="1">
                <a:solidFill>
                  <a:srgbClr val="1B9579"/>
                </a:solidFill>
                <a:latin typeface="Proxima Nova"/>
                <a:ea typeface="Proxima Nova"/>
                <a:cs typeface="Proxima Nova"/>
                <a:sym typeface="Proxima Nova"/>
              </a:rPr>
              <a:t>Which predictors matter most?</a:t>
            </a:r>
            <a:endParaRPr sz="1800" b="1">
              <a:solidFill>
                <a:srgbClr val="1B9579"/>
              </a:solidFill>
              <a:latin typeface="Proxima Nova"/>
              <a:ea typeface="Proxima Nova"/>
              <a:cs typeface="Proxima Nova"/>
              <a:sym typeface="Proxima Nova"/>
            </a:endParaRPr>
          </a:p>
        </p:txBody>
      </p:sp>
      <p:graphicFrame>
        <p:nvGraphicFramePr>
          <p:cNvPr id="105" name="Google Shape;105;p18"/>
          <p:cNvGraphicFramePr/>
          <p:nvPr/>
        </p:nvGraphicFramePr>
        <p:xfrm>
          <a:off x="75500" y="669163"/>
          <a:ext cx="8979675" cy="599440"/>
        </p:xfrm>
        <a:graphic>
          <a:graphicData uri="http://schemas.openxmlformats.org/drawingml/2006/table">
            <a:tbl>
              <a:tblPr>
                <a:noFill/>
                <a:tableStyleId>{8F727CA1-A22B-4835-B2F0-923C0CB78E8B}</a:tableStyleId>
              </a:tblPr>
              <a:tblGrid>
                <a:gridCol w="2153825">
                  <a:extLst>
                    <a:ext uri="{9D8B030D-6E8A-4147-A177-3AD203B41FA5}">
                      <a16:colId xmlns:a16="http://schemas.microsoft.com/office/drawing/2014/main" val="20000"/>
                    </a:ext>
                  </a:extLst>
                </a:gridCol>
                <a:gridCol w="1312775">
                  <a:extLst>
                    <a:ext uri="{9D8B030D-6E8A-4147-A177-3AD203B41FA5}">
                      <a16:colId xmlns:a16="http://schemas.microsoft.com/office/drawing/2014/main" val="20001"/>
                    </a:ext>
                  </a:extLst>
                </a:gridCol>
                <a:gridCol w="5513075">
                  <a:extLst>
                    <a:ext uri="{9D8B030D-6E8A-4147-A177-3AD203B41FA5}">
                      <a16:colId xmlns:a16="http://schemas.microsoft.com/office/drawing/2014/main" val="20002"/>
                    </a:ext>
                  </a:extLst>
                </a:gridCol>
              </a:tblGrid>
              <a:tr h="200025">
                <a:tc>
                  <a:txBody>
                    <a:bodyPr/>
                    <a:lstStyle/>
                    <a:p>
                      <a:pPr marL="0" lvl="0" indent="0" algn="l" rtl="0">
                        <a:lnSpc>
                          <a:spcPct val="115000"/>
                        </a:lnSpc>
                        <a:spcBef>
                          <a:spcPts val="0"/>
                        </a:spcBef>
                        <a:spcAft>
                          <a:spcPts val="0"/>
                        </a:spcAft>
                        <a:buNone/>
                      </a:pPr>
                      <a:r>
                        <a:rPr lang="en" sz="1100" b="1">
                          <a:latin typeface="Proxima Nova"/>
                          <a:ea typeface="Proxima Nova"/>
                          <a:cs typeface="Proxima Nova"/>
                          <a:sym typeface="Proxima Nova"/>
                        </a:rPr>
                        <a:t>AIC</a:t>
                      </a:r>
                      <a:endParaRPr sz="1100" b="1">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a:latin typeface="Proxima Nova"/>
                          <a:ea typeface="Proxima Nova"/>
                          <a:cs typeface="Proxima Nova"/>
                          <a:sym typeface="Proxima Nova"/>
                        </a:rPr>
                        <a:t>4101.955</a:t>
                      </a:r>
                      <a:endParaRPr sz="11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rowSpan="2">
                  <a:txBody>
                    <a:bodyPr/>
                    <a:lstStyle/>
                    <a:p>
                      <a:pPr marL="0" lvl="0" indent="0" algn="l" rtl="0">
                        <a:lnSpc>
                          <a:spcPct val="115000"/>
                        </a:lnSpc>
                        <a:spcBef>
                          <a:spcPts val="0"/>
                        </a:spcBef>
                        <a:spcAft>
                          <a:spcPts val="0"/>
                        </a:spcAft>
                        <a:buNone/>
                      </a:pPr>
                      <a:r>
                        <a:rPr lang="en" sz="1100">
                          <a:solidFill>
                            <a:schemeClr val="dk1"/>
                          </a:solidFill>
                          <a:latin typeface="Proxima Nova"/>
                          <a:ea typeface="Proxima Nova"/>
                          <a:cs typeface="Proxima Nova"/>
                          <a:sym typeface="Proxima Nova"/>
                        </a:rPr>
                        <a:t>This is a good model, 36% of the variation in the data can be explained by the model. A McFadden's Pseudo R squared of between 0.2 - 0.4 is considered a good fit for logistic regression.</a:t>
                      </a:r>
                      <a:endParaRPr sz="1100">
                        <a:solidFill>
                          <a:schemeClr val="dk1"/>
                        </a:solidFill>
                        <a:latin typeface="Proxima Nova"/>
                        <a:ea typeface="Proxima Nova"/>
                        <a:cs typeface="Proxima Nova"/>
                        <a:sym typeface="Proxima Nova"/>
                      </a:endParaRPr>
                    </a:p>
                  </a:txBody>
                  <a:tcPr marL="28575" marR="28575" marT="19050" marB="19050">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0"/>
                  </a:ext>
                </a:extLst>
              </a:tr>
              <a:tr h="342900">
                <a:tc>
                  <a:txBody>
                    <a:bodyPr/>
                    <a:lstStyle/>
                    <a:p>
                      <a:pPr marL="0" lvl="0" indent="0" algn="l" rtl="0">
                        <a:lnSpc>
                          <a:spcPct val="115000"/>
                        </a:lnSpc>
                        <a:spcBef>
                          <a:spcPts val="0"/>
                        </a:spcBef>
                        <a:spcAft>
                          <a:spcPts val="0"/>
                        </a:spcAft>
                        <a:buNone/>
                      </a:pPr>
                      <a:r>
                        <a:rPr lang="en" sz="1100" b="1">
                          <a:latin typeface="Proxima Nova"/>
                          <a:ea typeface="Proxima Nova"/>
                          <a:cs typeface="Proxima Nova"/>
                          <a:sym typeface="Proxima Nova"/>
                        </a:rPr>
                        <a:t>McFadden Pseudo R-squared</a:t>
                      </a:r>
                      <a:endParaRPr sz="1100" b="1">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a:latin typeface="Proxima Nova"/>
                          <a:ea typeface="Proxima Nova"/>
                          <a:cs typeface="Proxima Nova"/>
                          <a:sym typeface="Proxima Nova"/>
                        </a:rPr>
                        <a:t>0.3641</a:t>
                      </a:r>
                      <a:endParaRPr sz="11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vMerge="1">
                  <a:txBody>
                    <a:bodyPr/>
                    <a:lstStyle/>
                    <a:p>
                      <a:endParaRPr lang="en-US"/>
                    </a:p>
                  </a:txBody>
                  <a:tcPr/>
                </a:tc>
                <a:extLst>
                  <a:ext uri="{0D108BD9-81ED-4DB2-BD59-A6C34878D82A}">
                    <a16:rowId xmlns:a16="http://schemas.microsoft.com/office/drawing/2014/main" val="10001"/>
                  </a:ext>
                </a:extLst>
              </a:tr>
            </a:tbl>
          </a:graphicData>
        </a:graphic>
      </p:graphicFrame>
      <p:sp>
        <p:nvSpPr>
          <p:cNvPr id="106" name="Google Shape;106;p18"/>
          <p:cNvSpPr txBox="1"/>
          <p:nvPr/>
        </p:nvSpPr>
        <p:spPr>
          <a:xfrm>
            <a:off x="150400" y="5253075"/>
            <a:ext cx="5949300" cy="334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000">
                <a:solidFill>
                  <a:schemeClr val="dk2"/>
                </a:solidFill>
                <a:latin typeface="Proxima Nova"/>
                <a:ea typeface="Proxima Nova"/>
                <a:cs typeface="Proxima Nova"/>
                <a:sym typeface="Proxima Nova"/>
              </a:rPr>
              <a:t>Everything to the right of the dashed line (0R&gt;1) = increases dropout risk compared to graduating and viceversa.</a:t>
            </a:r>
            <a:endParaRPr sz="1000">
              <a:solidFill>
                <a:schemeClr val="dk2"/>
              </a:solidFill>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9"/>
          <p:cNvSpPr txBox="1">
            <a:spLocks noGrp="1"/>
          </p:cNvSpPr>
          <p:nvPr>
            <p:ph type="title"/>
          </p:nvPr>
        </p:nvSpPr>
        <p:spPr>
          <a:xfrm>
            <a:off x="311700" y="159556"/>
            <a:ext cx="8520600" cy="636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latin typeface="Proxima Nova"/>
                <a:ea typeface="Proxima Nova"/>
                <a:cs typeface="Proxima Nova"/>
                <a:sym typeface="Proxima Nova"/>
              </a:rPr>
              <a:t>Logistic Regression: Model Evaluation</a:t>
            </a:r>
            <a:endParaRPr sz="1550" b="1">
              <a:latin typeface="Proxima Nova"/>
              <a:ea typeface="Proxima Nova"/>
              <a:cs typeface="Proxima Nova"/>
              <a:sym typeface="Proxima Nova"/>
            </a:endParaRPr>
          </a:p>
        </p:txBody>
      </p:sp>
      <p:graphicFrame>
        <p:nvGraphicFramePr>
          <p:cNvPr id="112" name="Google Shape;112;p19"/>
          <p:cNvGraphicFramePr/>
          <p:nvPr/>
        </p:nvGraphicFramePr>
        <p:xfrm>
          <a:off x="311700" y="2122246"/>
          <a:ext cx="4100100" cy="1149035"/>
        </p:xfrm>
        <a:graphic>
          <a:graphicData uri="http://schemas.openxmlformats.org/drawingml/2006/table">
            <a:tbl>
              <a:tblPr>
                <a:noFill/>
                <a:tableStyleId>{8F727CA1-A22B-4835-B2F0-923C0CB78E8B}</a:tableStyleId>
              </a:tblPr>
              <a:tblGrid>
                <a:gridCol w="1025025">
                  <a:extLst>
                    <a:ext uri="{9D8B030D-6E8A-4147-A177-3AD203B41FA5}">
                      <a16:colId xmlns:a16="http://schemas.microsoft.com/office/drawing/2014/main" val="20000"/>
                    </a:ext>
                  </a:extLst>
                </a:gridCol>
                <a:gridCol w="1025025">
                  <a:extLst>
                    <a:ext uri="{9D8B030D-6E8A-4147-A177-3AD203B41FA5}">
                      <a16:colId xmlns:a16="http://schemas.microsoft.com/office/drawing/2014/main" val="20001"/>
                    </a:ext>
                  </a:extLst>
                </a:gridCol>
                <a:gridCol w="1025025">
                  <a:extLst>
                    <a:ext uri="{9D8B030D-6E8A-4147-A177-3AD203B41FA5}">
                      <a16:colId xmlns:a16="http://schemas.microsoft.com/office/drawing/2014/main" val="20002"/>
                    </a:ext>
                  </a:extLst>
                </a:gridCol>
                <a:gridCol w="1025025">
                  <a:extLst>
                    <a:ext uri="{9D8B030D-6E8A-4147-A177-3AD203B41FA5}">
                      <a16:colId xmlns:a16="http://schemas.microsoft.com/office/drawing/2014/main" val="20003"/>
                    </a:ext>
                  </a:extLst>
                </a:gridCol>
              </a:tblGrid>
              <a:tr h="200025">
                <a:tc gridSpan="4">
                  <a:txBody>
                    <a:bodyPr/>
                    <a:lstStyle/>
                    <a:p>
                      <a:pPr marL="0" lvl="0" indent="0" algn="ctr" rtl="0">
                        <a:lnSpc>
                          <a:spcPct val="115000"/>
                        </a:lnSpc>
                        <a:spcBef>
                          <a:spcPts val="0"/>
                        </a:spcBef>
                        <a:spcAft>
                          <a:spcPts val="0"/>
                        </a:spcAft>
                        <a:buNone/>
                      </a:pPr>
                      <a:r>
                        <a:rPr lang="en" sz="1200" b="1">
                          <a:solidFill>
                            <a:schemeClr val="dk1"/>
                          </a:solidFill>
                          <a:latin typeface="Proxima Nova"/>
                          <a:ea typeface="Proxima Nova"/>
                          <a:cs typeface="Proxima Nova"/>
                          <a:sym typeface="Proxima Nova"/>
                        </a:rPr>
                        <a:t>Confusion Matrix</a:t>
                      </a:r>
                      <a:endParaRPr sz="1200" b="1">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0025">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Prediction</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Graduate</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Dropout</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Enrolled</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Graduate</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613</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69</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CC0000"/>
                          </a:solidFill>
                          <a:latin typeface="Proxima Nova"/>
                          <a:ea typeface="Proxima Nova"/>
                          <a:cs typeface="Proxima Nova"/>
                          <a:sym typeface="Proxima Nova"/>
                        </a:rPr>
                        <a:t>126</a:t>
                      </a:r>
                      <a:endParaRPr sz="1200" b="1">
                        <a:solidFill>
                          <a:srgbClr val="CC0000"/>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Dropout</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28</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326</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CC0000"/>
                          </a:solidFill>
                          <a:latin typeface="Proxima Nova"/>
                          <a:ea typeface="Proxima Nova"/>
                          <a:cs typeface="Proxima Nova"/>
                          <a:sym typeface="Proxima Nova"/>
                        </a:rPr>
                        <a:t>63</a:t>
                      </a:r>
                      <a:endParaRPr sz="1200" b="1">
                        <a:solidFill>
                          <a:srgbClr val="CC0000"/>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Enrolled</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22</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32</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50</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aphicFrame>
        <p:nvGraphicFramePr>
          <p:cNvPr id="113" name="Google Shape;113;p19"/>
          <p:cNvGraphicFramePr/>
          <p:nvPr/>
        </p:nvGraphicFramePr>
        <p:xfrm>
          <a:off x="311700" y="3660067"/>
          <a:ext cx="4529400" cy="1361188"/>
        </p:xfrm>
        <a:graphic>
          <a:graphicData uri="http://schemas.openxmlformats.org/drawingml/2006/table">
            <a:tbl>
              <a:tblPr>
                <a:noFill/>
                <a:tableStyleId>{8F727CA1-A22B-4835-B2F0-923C0CB78E8B}</a:tableStyleId>
              </a:tblPr>
              <a:tblGrid>
                <a:gridCol w="1354575">
                  <a:extLst>
                    <a:ext uri="{9D8B030D-6E8A-4147-A177-3AD203B41FA5}">
                      <a16:colId xmlns:a16="http://schemas.microsoft.com/office/drawing/2014/main" val="20000"/>
                    </a:ext>
                  </a:extLst>
                </a:gridCol>
                <a:gridCol w="1058275">
                  <a:extLst>
                    <a:ext uri="{9D8B030D-6E8A-4147-A177-3AD203B41FA5}">
                      <a16:colId xmlns:a16="http://schemas.microsoft.com/office/drawing/2014/main" val="20001"/>
                    </a:ext>
                  </a:extLst>
                </a:gridCol>
                <a:gridCol w="1058275">
                  <a:extLst>
                    <a:ext uri="{9D8B030D-6E8A-4147-A177-3AD203B41FA5}">
                      <a16:colId xmlns:a16="http://schemas.microsoft.com/office/drawing/2014/main" val="20002"/>
                    </a:ext>
                  </a:extLst>
                </a:gridCol>
                <a:gridCol w="1058275">
                  <a:extLst>
                    <a:ext uri="{9D8B030D-6E8A-4147-A177-3AD203B41FA5}">
                      <a16:colId xmlns:a16="http://schemas.microsoft.com/office/drawing/2014/main" val="20003"/>
                    </a:ext>
                  </a:extLst>
                </a:gridCol>
              </a:tblGrid>
              <a:tr h="200025">
                <a:tc>
                  <a:txBody>
                    <a:bodyPr/>
                    <a:lstStyle/>
                    <a:p>
                      <a:pPr marL="0" lvl="0" indent="0" algn="l" rtl="0">
                        <a:lnSpc>
                          <a:spcPct val="115000"/>
                        </a:lnSpc>
                        <a:spcBef>
                          <a:spcPts val="0"/>
                        </a:spcBef>
                        <a:spcAft>
                          <a:spcPts val="0"/>
                        </a:spcAft>
                        <a:buNone/>
                      </a:pPr>
                      <a:r>
                        <a:rPr lang="en" sz="1200" b="1">
                          <a:latin typeface="Proxima Nova"/>
                          <a:ea typeface="Proxima Nova"/>
                          <a:cs typeface="Proxima Nova"/>
                          <a:sym typeface="Proxima Nova"/>
                        </a:rPr>
                        <a:t>Model Accuracy</a:t>
                      </a:r>
                      <a:endParaRPr sz="1200" b="1">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1B9579"/>
                          </a:solidFill>
                          <a:latin typeface="Proxima Nova"/>
                          <a:ea typeface="Proxima Nova"/>
                          <a:cs typeface="Proxima Nova"/>
                          <a:sym typeface="Proxima Nova"/>
                        </a:rPr>
                        <a:t>74.40%</a:t>
                      </a:r>
                      <a:endParaRPr sz="1200" b="1">
                        <a:solidFill>
                          <a:srgbClr val="1B9579"/>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0"/>
                  </a:ext>
                </a:extLst>
              </a:tr>
              <a:tr h="200025">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spcBef>
                          <a:spcPts val="0"/>
                        </a:spcBef>
                        <a:spcAft>
                          <a:spcPts val="0"/>
                        </a:spcAft>
                        <a:buNone/>
                      </a:pPr>
                      <a:r>
                        <a:rPr lang="en" sz="1200" b="1">
                          <a:latin typeface="Proxima Nova"/>
                          <a:ea typeface="Proxima Nova"/>
                          <a:cs typeface="Proxima Nova"/>
                          <a:sym typeface="Proxima Nova"/>
                        </a:rPr>
                        <a:t>Statistics by Class</a:t>
                      </a:r>
                      <a:endParaRPr sz="1200" b="1">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Graduate</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Dropout</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Enrolled</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Sensitivity</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1B9579"/>
                          </a:solidFill>
                          <a:latin typeface="Proxima Nova"/>
                          <a:ea typeface="Proxima Nova"/>
                          <a:cs typeface="Proxima Nova"/>
                          <a:sym typeface="Proxima Nova"/>
                        </a:rPr>
                        <a:t>92.40%</a:t>
                      </a:r>
                      <a:endParaRPr sz="1200" b="1">
                        <a:solidFill>
                          <a:srgbClr val="1B9579"/>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1B9579"/>
                          </a:solidFill>
                          <a:latin typeface="Proxima Nova"/>
                          <a:ea typeface="Proxima Nova"/>
                          <a:cs typeface="Proxima Nova"/>
                          <a:sym typeface="Proxima Nova"/>
                        </a:rPr>
                        <a:t>76.40%</a:t>
                      </a:r>
                      <a:endParaRPr sz="1200" b="1">
                        <a:solidFill>
                          <a:srgbClr val="1B9579"/>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CC0000"/>
                          </a:solidFill>
                          <a:latin typeface="Proxima Nova"/>
                          <a:ea typeface="Proxima Nova"/>
                          <a:cs typeface="Proxima Nova"/>
                          <a:sym typeface="Proxima Nova"/>
                        </a:rPr>
                        <a:t>20.90%</a:t>
                      </a:r>
                      <a:endParaRPr sz="1200" b="1">
                        <a:solidFill>
                          <a:srgbClr val="CC0000"/>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Balanced Accuracy</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1B9579"/>
                          </a:solidFill>
                          <a:latin typeface="Proxima Nova"/>
                          <a:ea typeface="Proxima Nova"/>
                          <a:cs typeface="Proxima Nova"/>
                          <a:sym typeface="Proxima Nova"/>
                        </a:rPr>
                        <a:t>81.50%</a:t>
                      </a:r>
                      <a:endParaRPr sz="1200" b="1">
                        <a:solidFill>
                          <a:srgbClr val="1B9579"/>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1B9579"/>
                          </a:solidFill>
                          <a:latin typeface="Proxima Nova"/>
                          <a:ea typeface="Proxima Nova"/>
                          <a:cs typeface="Proxima Nova"/>
                          <a:sym typeface="Proxima Nova"/>
                        </a:rPr>
                        <a:t>83.30%</a:t>
                      </a:r>
                      <a:endParaRPr sz="1200" b="1">
                        <a:solidFill>
                          <a:srgbClr val="1B9579"/>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CC0000"/>
                          </a:solidFill>
                          <a:latin typeface="Proxima Nova"/>
                          <a:ea typeface="Proxima Nova"/>
                          <a:cs typeface="Proxima Nova"/>
                          <a:sym typeface="Proxima Nova"/>
                        </a:rPr>
                        <a:t>57.90%</a:t>
                      </a:r>
                      <a:endParaRPr sz="1200" b="1">
                        <a:solidFill>
                          <a:srgbClr val="CC0000"/>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114" name="Google Shape;114;p19"/>
          <p:cNvGraphicFramePr/>
          <p:nvPr/>
        </p:nvGraphicFramePr>
        <p:xfrm>
          <a:off x="311700" y="1079725"/>
          <a:ext cx="3561075" cy="689421"/>
        </p:xfrm>
        <a:graphic>
          <a:graphicData uri="http://schemas.openxmlformats.org/drawingml/2006/table">
            <a:tbl>
              <a:tblPr>
                <a:noFill/>
                <a:tableStyleId>{8F727CA1-A22B-4835-B2F0-923C0CB78E8B}</a:tableStyleId>
              </a:tblPr>
              <a:tblGrid>
                <a:gridCol w="1065000">
                  <a:extLst>
                    <a:ext uri="{9D8B030D-6E8A-4147-A177-3AD203B41FA5}">
                      <a16:colId xmlns:a16="http://schemas.microsoft.com/office/drawing/2014/main" val="20000"/>
                    </a:ext>
                  </a:extLst>
                </a:gridCol>
                <a:gridCol w="832025">
                  <a:extLst>
                    <a:ext uri="{9D8B030D-6E8A-4147-A177-3AD203B41FA5}">
                      <a16:colId xmlns:a16="http://schemas.microsoft.com/office/drawing/2014/main" val="20001"/>
                    </a:ext>
                  </a:extLst>
                </a:gridCol>
                <a:gridCol w="832025">
                  <a:extLst>
                    <a:ext uri="{9D8B030D-6E8A-4147-A177-3AD203B41FA5}">
                      <a16:colId xmlns:a16="http://schemas.microsoft.com/office/drawing/2014/main" val="20002"/>
                    </a:ext>
                  </a:extLst>
                </a:gridCol>
                <a:gridCol w="832025">
                  <a:extLst>
                    <a:ext uri="{9D8B030D-6E8A-4147-A177-3AD203B41FA5}">
                      <a16:colId xmlns:a16="http://schemas.microsoft.com/office/drawing/2014/main" val="20003"/>
                    </a:ext>
                  </a:extLst>
                </a:gridCol>
              </a:tblGrid>
              <a:tr h="200025">
                <a:tc gridSpan="4">
                  <a:txBody>
                    <a:bodyPr/>
                    <a:lstStyle/>
                    <a:p>
                      <a:pPr marL="0" lvl="0" indent="0" algn="ctr" rtl="0">
                        <a:lnSpc>
                          <a:spcPct val="115000"/>
                        </a:lnSpc>
                        <a:spcBef>
                          <a:spcPts val="0"/>
                        </a:spcBef>
                        <a:spcAft>
                          <a:spcPts val="0"/>
                        </a:spcAft>
                        <a:buNone/>
                      </a:pPr>
                      <a:r>
                        <a:rPr lang="en" sz="1200" b="1">
                          <a:latin typeface="Proxima Nova"/>
                          <a:ea typeface="Proxima Nova"/>
                          <a:cs typeface="Proxima Nova"/>
                          <a:sym typeface="Proxima Nova"/>
                        </a:rPr>
                        <a:t>Model Size</a:t>
                      </a:r>
                      <a:endParaRPr sz="1200" b="1">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0025">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Graduate</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Dropout</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Enrolled</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Testing data</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663</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427</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239</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15" name="Google Shape;115;p19"/>
          <p:cNvSpPr txBox="1"/>
          <p:nvPr/>
        </p:nvSpPr>
        <p:spPr>
          <a:xfrm>
            <a:off x="5983550" y="2374500"/>
            <a:ext cx="2848800" cy="50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Proxima Nova"/>
                <a:ea typeface="Proxima Nova"/>
                <a:cs typeface="Proxima Nova"/>
                <a:sym typeface="Proxima Nova"/>
              </a:rPr>
              <a:t>The model is struggling to capture the ‘Enrolled Class’.</a:t>
            </a:r>
            <a:endParaRPr>
              <a:solidFill>
                <a:schemeClr val="dk1"/>
              </a:solidFill>
              <a:latin typeface="Proxima Nova"/>
              <a:ea typeface="Proxima Nova"/>
              <a:cs typeface="Proxima Nova"/>
              <a:sym typeface="Proxima Nova"/>
            </a:endParaRPr>
          </a:p>
        </p:txBody>
      </p:sp>
      <p:cxnSp>
        <p:nvCxnSpPr>
          <p:cNvPr id="116" name="Google Shape;116;p19"/>
          <p:cNvCxnSpPr/>
          <p:nvPr/>
        </p:nvCxnSpPr>
        <p:spPr>
          <a:xfrm>
            <a:off x="5366425" y="1042025"/>
            <a:ext cx="0" cy="40506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0"/>
          <p:cNvSpPr txBox="1">
            <a:spLocks noGrp="1"/>
          </p:cNvSpPr>
          <p:nvPr>
            <p:ph type="title"/>
          </p:nvPr>
        </p:nvSpPr>
        <p:spPr>
          <a:xfrm>
            <a:off x="311700" y="159556"/>
            <a:ext cx="8520600" cy="636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latin typeface="Proxima Nova"/>
                <a:ea typeface="Proxima Nova"/>
                <a:cs typeface="Proxima Nova"/>
                <a:sym typeface="Proxima Nova"/>
              </a:rPr>
              <a:t>Classification Tree: Model Results</a:t>
            </a:r>
            <a:endParaRPr sz="1550" b="1">
              <a:latin typeface="Proxima Nova"/>
              <a:ea typeface="Proxima Nova"/>
              <a:cs typeface="Proxima Nova"/>
              <a:sym typeface="Proxima Nova"/>
            </a:endParaRPr>
          </a:p>
        </p:txBody>
      </p:sp>
      <p:pic>
        <p:nvPicPr>
          <p:cNvPr id="122" name="Google Shape;122;p20"/>
          <p:cNvPicPr preferRelativeResize="0"/>
          <p:nvPr/>
        </p:nvPicPr>
        <p:blipFill rotWithShape="1">
          <a:blip r:embed="rId3">
            <a:alphaModFix/>
          </a:blip>
          <a:srcRect l="4866" r="4685" b="5312"/>
          <a:stretch/>
        </p:blipFill>
        <p:spPr>
          <a:xfrm>
            <a:off x="0" y="948250"/>
            <a:ext cx="6305826" cy="4077525"/>
          </a:xfrm>
          <a:prstGeom prst="rect">
            <a:avLst/>
          </a:prstGeom>
          <a:noFill/>
          <a:ln>
            <a:noFill/>
          </a:ln>
        </p:spPr>
      </p:pic>
      <p:cxnSp>
        <p:nvCxnSpPr>
          <p:cNvPr id="123" name="Google Shape;123;p20"/>
          <p:cNvCxnSpPr/>
          <p:nvPr/>
        </p:nvCxnSpPr>
        <p:spPr>
          <a:xfrm>
            <a:off x="6305813" y="795838"/>
            <a:ext cx="3000" cy="4296900"/>
          </a:xfrm>
          <a:prstGeom prst="straightConnector1">
            <a:avLst/>
          </a:prstGeom>
          <a:noFill/>
          <a:ln w="9525" cap="flat" cmpd="sng">
            <a:solidFill>
              <a:schemeClr val="dk2"/>
            </a:solidFill>
            <a:prstDash val="solid"/>
            <a:round/>
            <a:headEnd type="none" w="med" len="med"/>
            <a:tailEnd type="none" w="med" len="med"/>
          </a:ln>
        </p:spPr>
      </p:cxnSp>
      <p:sp>
        <p:nvSpPr>
          <p:cNvPr id="124" name="Google Shape;124;p20"/>
          <p:cNvSpPr txBox="1">
            <a:spLocks noGrp="1"/>
          </p:cNvSpPr>
          <p:nvPr>
            <p:ph type="body" idx="1"/>
          </p:nvPr>
        </p:nvSpPr>
        <p:spPr>
          <a:xfrm>
            <a:off x="6402525" y="795900"/>
            <a:ext cx="2652900" cy="42969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Clr>
                <a:schemeClr val="dk1"/>
              </a:buClr>
              <a:buSzPts val="1300"/>
              <a:buChar char="●"/>
            </a:pPr>
            <a:r>
              <a:rPr lang="en" sz="1200">
                <a:solidFill>
                  <a:schemeClr val="dk1"/>
                </a:solidFill>
                <a:latin typeface="Proxima Nova"/>
                <a:ea typeface="Proxima Nova"/>
                <a:cs typeface="Proxima Nova"/>
                <a:sym typeface="Proxima Nova"/>
              </a:rPr>
              <a:t>Most important variable: “</a:t>
            </a:r>
            <a:r>
              <a:rPr lang="en" sz="1200" b="1">
                <a:solidFill>
                  <a:srgbClr val="1B9579"/>
                </a:solidFill>
                <a:latin typeface="Proxima Nova"/>
                <a:ea typeface="Proxima Nova"/>
                <a:cs typeface="Proxima Nova"/>
                <a:sym typeface="Proxima Nova"/>
              </a:rPr>
              <a:t>Curricular_units_2nd_sem_approved”</a:t>
            </a:r>
            <a:r>
              <a:rPr lang="en" sz="1200" b="1">
                <a:solidFill>
                  <a:schemeClr val="dk1"/>
                </a:solidFill>
                <a:latin typeface="Proxima Nova"/>
                <a:ea typeface="Proxima Nova"/>
                <a:cs typeface="Proxima Nova"/>
                <a:sym typeface="Proxima Nova"/>
              </a:rPr>
              <a:t>.</a:t>
            </a:r>
            <a:endParaRPr sz="1200" b="1">
              <a:solidFill>
                <a:schemeClr val="dk1"/>
              </a:solidFill>
              <a:latin typeface="Proxima Nova"/>
              <a:ea typeface="Proxima Nova"/>
              <a:cs typeface="Proxima Nova"/>
              <a:sym typeface="Proxima Nova"/>
            </a:endParaRPr>
          </a:p>
          <a:p>
            <a:pPr marL="457200" lvl="0" indent="-304800" algn="l" rtl="0">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Financial factor is still critical, '</a:t>
            </a:r>
            <a:r>
              <a:rPr lang="en" sz="1200" b="1">
                <a:solidFill>
                  <a:srgbClr val="1B9579"/>
                </a:solidFill>
                <a:latin typeface="Proxima Nova"/>
                <a:ea typeface="Proxima Nova"/>
                <a:cs typeface="Proxima Nova"/>
                <a:sym typeface="Proxima Nova"/>
              </a:rPr>
              <a:t>tuition_fees_up_to_date</a:t>
            </a:r>
            <a:r>
              <a:rPr lang="en" sz="1200">
                <a:solidFill>
                  <a:schemeClr val="dk1"/>
                </a:solidFill>
                <a:latin typeface="Proxima Nova"/>
                <a:ea typeface="Proxima Nova"/>
                <a:cs typeface="Proxima Nova"/>
                <a:sym typeface="Proxima Nova"/>
              </a:rPr>
              <a:t>' appears on both branches. Even good students drop out without it.</a:t>
            </a:r>
            <a:endParaRPr sz="1200">
              <a:solidFill>
                <a:schemeClr val="dk1"/>
              </a:solidFill>
              <a:latin typeface="Proxima Nova"/>
              <a:ea typeface="Proxima Nova"/>
              <a:cs typeface="Proxima Nova"/>
              <a:sym typeface="Proxima Nova"/>
            </a:endParaRPr>
          </a:p>
          <a:p>
            <a:pPr marL="457200" lvl="0" indent="-311150" algn="l" rtl="0">
              <a:spcBef>
                <a:spcPts val="0"/>
              </a:spcBef>
              <a:spcAft>
                <a:spcPts val="0"/>
              </a:spcAft>
              <a:buClr>
                <a:schemeClr val="dk1"/>
              </a:buClr>
              <a:buSzPts val="1300"/>
              <a:buChar char="●"/>
            </a:pPr>
            <a:r>
              <a:rPr lang="en" sz="1200" b="1">
                <a:solidFill>
                  <a:srgbClr val="1B9579"/>
                </a:solidFill>
                <a:latin typeface="Proxima Nova"/>
                <a:ea typeface="Proxima Nova"/>
                <a:cs typeface="Proxima Nova"/>
                <a:sym typeface="Proxima Nova"/>
              </a:rPr>
              <a:t>The tree confirms our logistic regression model</a:t>
            </a:r>
            <a:r>
              <a:rPr lang="en" sz="1200">
                <a:solidFill>
                  <a:schemeClr val="dk1"/>
                </a:solidFill>
                <a:latin typeface="Proxima Nova"/>
                <a:ea typeface="Proxima Nova"/>
                <a:cs typeface="Proxima Nova"/>
                <a:sym typeface="Proxima Nova"/>
              </a:rPr>
              <a:t> since both models agree on the same top predictors i.e., curriucular_units_2nd_sem_approved (strongest positive factor), tuition_fees_up_to_date (strongest protective factor), age_at_enrollment(mild risk factor).</a:t>
            </a:r>
            <a:endParaRPr sz="1200">
              <a:solidFill>
                <a:schemeClr val="dk1"/>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311700" y="159556"/>
            <a:ext cx="8520600" cy="636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latin typeface="Proxima Nova"/>
                <a:ea typeface="Proxima Nova"/>
                <a:cs typeface="Proxima Nova"/>
                <a:sym typeface="Proxima Nova"/>
              </a:rPr>
              <a:t>Classification Tree: Model Evaluation</a:t>
            </a:r>
            <a:endParaRPr sz="1550" b="1">
              <a:latin typeface="Proxima Nova"/>
              <a:ea typeface="Proxima Nova"/>
              <a:cs typeface="Proxima Nova"/>
              <a:sym typeface="Proxima Nova"/>
            </a:endParaRPr>
          </a:p>
        </p:txBody>
      </p:sp>
      <p:graphicFrame>
        <p:nvGraphicFramePr>
          <p:cNvPr id="130" name="Google Shape;130;p21"/>
          <p:cNvGraphicFramePr/>
          <p:nvPr/>
        </p:nvGraphicFramePr>
        <p:xfrm>
          <a:off x="311700" y="2108913"/>
          <a:ext cx="4086225" cy="1149035"/>
        </p:xfrm>
        <a:graphic>
          <a:graphicData uri="http://schemas.openxmlformats.org/drawingml/2006/table">
            <a:tbl>
              <a:tblPr>
                <a:noFill/>
                <a:tableStyleId>{8F727CA1-A22B-4835-B2F0-923C0CB78E8B}</a:tableStyleId>
              </a:tblPr>
              <a:tblGrid>
                <a:gridCol w="1228725">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tblGrid>
              <a:tr h="200025">
                <a:tc gridSpan="4">
                  <a:txBody>
                    <a:bodyPr/>
                    <a:lstStyle/>
                    <a:p>
                      <a:pPr marL="0" lvl="0" indent="0" algn="ctr" rtl="0">
                        <a:lnSpc>
                          <a:spcPct val="115000"/>
                        </a:lnSpc>
                        <a:spcBef>
                          <a:spcPts val="0"/>
                        </a:spcBef>
                        <a:spcAft>
                          <a:spcPts val="0"/>
                        </a:spcAft>
                        <a:buNone/>
                      </a:pPr>
                      <a:r>
                        <a:rPr lang="en" sz="1200" b="1">
                          <a:solidFill>
                            <a:schemeClr val="dk1"/>
                          </a:solidFill>
                          <a:latin typeface="Proxima Nova"/>
                          <a:ea typeface="Proxima Nova"/>
                          <a:cs typeface="Proxima Nova"/>
                          <a:sym typeface="Proxima Nova"/>
                        </a:rPr>
                        <a:t>Confusion Matrix</a:t>
                      </a:r>
                      <a:endParaRPr sz="1200" b="1">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0025">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Prediction</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Graduate</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Dropout</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Enrolled</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Graduate</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590</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52</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chemeClr val="accent4"/>
                          </a:solidFill>
                          <a:latin typeface="Proxima Nova"/>
                          <a:ea typeface="Proxima Nova"/>
                          <a:cs typeface="Proxima Nova"/>
                          <a:sym typeface="Proxima Nova"/>
                        </a:rPr>
                        <a:t>95</a:t>
                      </a:r>
                      <a:endParaRPr sz="1200" b="1">
                        <a:solidFill>
                          <a:schemeClr val="accent4"/>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Dropout</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32</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324</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chemeClr val="accent4"/>
                          </a:solidFill>
                          <a:latin typeface="Proxima Nova"/>
                          <a:ea typeface="Proxima Nova"/>
                          <a:cs typeface="Proxima Nova"/>
                          <a:sym typeface="Proxima Nova"/>
                        </a:rPr>
                        <a:t>55</a:t>
                      </a:r>
                      <a:endParaRPr sz="1200" b="1">
                        <a:solidFill>
                          <a:schemeClr val="accent4"/>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Enrolled</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41</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51</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89</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aphicFrame>
        <p:nvGraphicFramePr>
          <p:cNvPr id="131" name="Google Shape;131;p21"/>
          <p:cNvGraphicFramePr/>
          <p:nvPr/>
        </p:nvGraphicFramePr>
        <p:xfrm>
          <a:off x="311700" y="3633400"/>
          <a:ext cx="4655600" cy="1370015"/>
        </p:xfrm>
        <a:graphic>
          <a:graphicData uri="http://schemas.openxmlformats.org/drawingml/2006/table">
            <a:tbl>
              <a:tblPr>
                <a:noFill/>
                <a:tableStyleId>{8F727CA1-A22B-4835-B2F0-923C0CB78E8B}</a:tableStyleId>
              </a:tblPr>
              <a:tblGrid>
                <a:gridCol w="1399925">
                  <a:extLst>
                    <a:ext uri="{9D8B030D-6E8A-4147-A177-3AD203B41FA5}">
                      <a16:colId xmlns:a16="http://schemas.microsoft.com/office/drawing/2014/main" val="20000"/>
                    </a:ext>
                  </a:extLst>
                </a:gridCol>
                <a:gridCol w="1085225">
                  <a:extLst>
                    <a:ext uri="{9D8B030D-6E8A-4147-A177-3AD203B41FA5}">
                      <a16:colId xmlns:a16="http://schemas.microsoft.com/office/drawing/2014/main" val="20001"/>
                    </a:ext>
                  </a:extLst>
                </a:gridCol>
                <a:gridCol w="1085225">
                  <a:extLst>
                    <a:ext uri="{9D8B030D-6E8A-4147-A177-3AD203B41FA5}">
                      <a16:colId xmlns:a16="http://schemas.microsoft.com/office/drawing/2014/main" val="20002"/>
                    </a:ext>
                  </a:extLst>
                </a:gridCol>
                <a:gridCol w="1085225">
                  <a:extLst>
                    <a:ext uri="{9D8B030D-6E8A-4147-A177-3AD203B41FA5}">
                      <a16:colId xmlns:a16="http://schemas.microsoft.com/office/drawing/2014/main" val="20003"/>
                    </a:ext>
                  </a:extLst>
                </a:gridCol>
              </a:tblGrid>
              <a:tr h="200025">
                <a:tc>
                  <a:txBody>
                    <a:bodyPr/>
                    <a:lstStyle/>
                    <a:p>
                      <a:pPr marL="0" lvl="0" indent="0" algn="l" rtl="0">
                        <a:lnSpc>
                          <a:spcPct val="115000"/>
                        </a:lnSpc>
                        <a:spcBef>
                          <a:spcPts val="0"/>
                        </a:spcBef>
                        <a:spcAft>
                          <a:spcPts val="0"/>
                        </a:spcAft>
                        <a:buNone/>
                      </a:pPr>
                      <a:r>
                        <a:rPr lang="en" sz="1200" b="1">
                          <a:latin typeface="Proxima Nova"/>
                          <a:ea typeface="Proxima Nova"/>
                          <a:cs typeface="Proxima Nova"/>
                          <a:sym typeface="Proxima Nova"/>
                        </a:rPr>
                        <a:t>Model Accuracy</a:t>
                      </a:r>
                      <a:endParaRPr sz="1200" b="1">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75.47%</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0"/>
                  </a:ext>
                </a:extLst>
              </a:tr>
              <a:tr h="200025">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200" b="1">
                          <a:latin typeface="Proxima Nova"/>
                          <a:ea typeface="Proxima Nova"/>
                          <a:cs typeface="Proxima Nova"/>
                          <a:sym typeface="Proxima Nova"/>
                        </a:rPr>
                        <a:t>Statistics by Class</a:t>
                      </a:r>
                      <a:endParaRPr sz="1200" b="1">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Graduate</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Dropout</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Enrolled</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Sensitivity</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88.99%</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75.88%</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CC0000"/>
                          </a:solidFill>
                          <a:latin typeface="Proxima Nova"/>
                          <a:ea typeface="Proxima Nova"/>
                          <a:cs typeface="Proxima Nova"/>
                          <a:sym typeface="Proxima Nova"/>
                        </a:rPr>
                        <a:t>37.23%</a:t>
                      </a:r>
                      <a:endParaRPr sz="1200" b="1">
                        <a:solidFill>
                          <a:srgbClr val="CC0000"/>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Balanced Accuracy</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83.46%</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83.12%</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CC0000"/>
                          </a:solidFill>
                          <a:latin typeface="Proxima Nova"/>
                          <a:ea typeface="Proxima Nova"/>
                          <a:cs typeface="Proxima Nova"/>
                          <a:sym typeface="Proxima Nova"/>
                        </a:rPr>
                        <a:t>64.39%</a:t>
                      </a:r>
                      <a:endParaRPr sz="1200" b="1">
                        <a:solidFill>
                          <a:srgbClr val="CC0000"/>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32" name="Google Shape;132;p21"/>
          <p:cNvSpPr txBox="1"/>
          <p:nvPr/>
        </p:nvSpPr>
        <p:spPr>
          <a:xfrm>
            <a:off x="5765550" y="1041900"/>
            <a:ext cx="3066900" cy="40506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The model struggles to capture students who fall in the 'Enrolled class' (</a:t>
            </a:r>
            <a:r>
              <a:rPr lang="en" sz="1300" b="1">
                <a:solidFill>
                  <a:srgbClr val="CC0000"/>
                </a:solidFill>
                <a:latin typeface="Proxima Nova"/>
                <a:ea typeface="Proxima Nova"/>
                <a:cs typeface="Proxima Nova"/>
                <a:sym typeface="Proxima Nova"/>
              </a:rPr>
              <a:t>37.2%</a:t>
            </a:r>
            <a:r>
              <a:rPr lang="en" sz="1300">
                <a:solidFill>
                  <a:schemeClr val="dk1"/>
                </a:solidFill>
                <a:latin typeface="Proxima Nova"/>
                <a:ea typeface="Proxima Nova"/>
                <a:cs typeface="Proxima Nova"/>
                <a:sym typeface="Proxima Nova"/>
              </a:rPr>
              <a:t>)</a:t>
            </a:r>
            <a:endParaRPr sz="1300">
              <a:solidFill>
                <a:schemeClr val="dk1"/>
              </a:solidFill>
              <a:latin typeface="Proxima Nova"/>
              <a:ea typeface="Proxima Nova"/>
              <a:cs typeface="Proxima Nova"/>
              <a:sym typeface="Proxima Nova"/>
            </a:endParaRPr>
          </a:p>
          <a:p>
            <a:pPr marL="457200" lvl="0" indent="-311150" algn="l" rtl="0">
              <a:lnSpc>
                <a:spcPct val="115000"/>
              </a:lnSpc>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This is most likely because the 'Enrolled Class' is a middle ground category, so its features overlap with both other categories.</a:t>
            </a:r>
            <a:endParaRPr sz="1300">
              <a:solidFill>
                <a:schemeClr val="dk1"/>
              </a:solidFill>
              <a:latin typeface="Proxima Nova"/>
              <a:ea typeface="Proxima Nova"/>
              <a:cs typeface="Proxima Nova"/>
              <a:sym typeface="Proxima Nova"/>
            </a:endParaRPr>
          </a:p>
          <a:p>
            <a:pPr marL="457200" lvl="0" indent="-311150" algn="l" rtl="0">
              <a:lnSpc>
                <a:spcPct val="115000"/>
              </a:lnSpc>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Comparing the logistic regression model to the classification model, the classification model wins! The classification model has a higher accuracy (</a:t>
            </a:r>
            <a:r>
              <a:rPr lang="en" sz="1300" b="1">
                <a:solidFill>
                  <a:srgbClr val="1B9579"/>
                </a:solidFill>
                <a:latin typeface="Proxima Nova"/>
                <a:ea typeface="Proxima Nova"/>
                <a:cs typeface="Proxima Nova"/>
                <a:sym typeface="Proxima Nova"/>
              </a:rPr>
              <a:t>75.5% vs 74.4%</a:t>
            </a:r>
            <a:r>
              <a:rPr lang="en" sz="1300">
                <a:solidFill>
                  <a:schemeClr val="dk1"/>
                </a:solidFill>
                <a:latin typeface="Proxima Nova"/>
                <a:ea typeface="Proxima Nova"/>
                <a:cs typeface="Proxima Nova"/>
                <a:sym typeface="Proxima Nova"/>
              </a:rPr>
              <a:t>), and higher enrolled balanced accuracy (</a:t>
            </a:r>
            <a:r>
              <a:rPr lang="en" sz="1300" b="1">
                <a:solidFill>
                  <a:srgbClr val="1B9579"/>
                </a:solidFill>
                <a:latin typeface="Proxima Nova"/>
                <a:ea typeface="Proxima Nova"/>
                <a:cs typeface="Proxima Nova"/>
                <a:sym typeface="Proxima Nova"/>
              </a:rPr>
              <a:t>64.4% vs 57.9%</a:t>
            </a:r>
            <a:r>
              <a:rPr lang="en" sz="1300">
                <a:solidFill>
                  <a:schemeClr val="dk1"/>
                </a:solidFill>
                <a:latin typeface="Proxima Nova"/>
                <a:ea typeface="Proxima Nova"/>
                <a:cs typeface="Proxima Nova"/>
                <a:sym typeface="Proxima Nova"/>
              </a:rPr>
              <a:t>).</a:t>
            </a:r>
            <a:endParaRPr sz="1300">
              <a:solidFill>
                <a:schemeClr val="dk1"/>
              </a:solidFill>
              <a:latin typeface="Proxima Nova"/>
              <a:ea typeface="Proxima Nova"/>
              <a:cs typeface="Proxima Nova"/>
              <a:sym typeface="Proxima Nova"/>
            </a:endParaRPr>
          </a:p>
        </p:txBody>
      </p:sp>
      <p:cxnSp>
        <p:nvCxnSpPr>
          <p:cNvPr id="133" name="Google Shape;133;p21"/>
          <p:cNvCxnSpPr/>
          <p:nvPr/>
        </p:nvCxnSpPr>
        <p:spPr>
          <a:xfrm>
            <a:off x="5366425" y="1042025"/>
            <a:ext cx="0" cy="4050600"/>
          </a:xfrm>
          <a:prstGeom prst="straightConnector1">
            <a:avLst/>
          </a:prstGeom>
          <a:noFill/>
          <a:ln w="9525" cap="flat" cmpd="sng">
            <a:solidFill>
              <a:schemeClr val="dk2"/>
            </a:solidFill>
            <a:prstDash val="solid"/>
            <a:round/>
            <a:headEnd type="none" w="med" len="med"/>
            <a:tailEnd type="none" w="med" len="med"/>
          </a:ln>
        </p:spPr>
      </p:cxnSp>
      <p:graphicFrame>
        <p:nvGraphicFramePr>
          <p:cNvPr id="134" name="Google Shape;134;p21"/>
          <p:cNvGraphicFramePr/>
          <p:nvPr/>
        </p:nvGraphicFramePr>
        <p:xfrm>
          <a:off x="311700" y="1079725"/>
          <a:ext cx="3561075" cy="689421"/>
        </p:xfrm>
        <a:graphic>
          <a:graphicData uri="http://schemas.openxmlformats.org/drawingml/2006/table">
            <a:tbl>
              <a:tblPr>
                <a:noFill/>
                <a:tableStyleId>{8F727CA1-A22B-4835-B2F0-923C0CB78E8B}</a:tableStyleId>
              </a:tblPr>
              <a:tblGrid>
                <a:gridCol w="1065000">
                  <a:extLst>
                    <a:ext uri="{9D8B030D-6E8A-4147-A177-3AD203B41FA5}">
                      <a16:colId xmlns:a16="http://schemas.microsoft.com/office/drawing/2014/main" val="20000"/>
                    </a:ext>
                  </a:extLst>
                </a:gridCol>
                <a:gridCol w="832025">
                  <a:extLst>
                    <a:ext uri="{9D8B030D-6E8A-4147-A177-3AD203B41FA5}">
                      <a16:colId xmlns:a16="http://schemas.microsoft.com/office/drawing/2014/main" val="20001"/>
                    </a:ext>
                  </a:extLst>
                </a:gridCol>
                <a:gridCol w="832025">
                  <a:extLst>
                    <a:ext uri="{9D8B030D-6E8A-4147-A177-3AD203B41FA5}">
                      <a16:colId xmlns:a16="http://schemas.microsoft.com/office/drawing/2014/main" val="20002"/>
                    </a:ext>
                  </a:extLst>
                </a:gridCol>
                <a:gridCol w="832025">
                  <a:extLst>
                    <a:ext uri="{9D8B030D-6E8A-4147-A177-3AD203B41FA5}">
                      <a16:colId xmlns:a16="http://schemas.microsoft.com/office/drawing/2014/main" val="20003"/>
                    </a:ext>
                  </a:extLst>
                </a:gridCol>
              </a:tblGrid>
              <a:tr h="200025">
                <a:tc gridSpan="4">
                  <a:txBody>
                    <a:bodyPr/>
                    <a:lstStyle/>
                    <a:p>
                      <a:pPr marL="0" lvl="0" indent="0" algn="ctr" rtl="0">
                        <a:lnSpc>
                          <a:spcPct val="115000"/>
                        </a:lnSpc>
                        <a:spcBef>
                          <a:spcPts val="0"/>
                        </a:spcBef>
                        <a:spcAft>
                          <a:spcPts val="0"/>
                        </a:spcAft>
                        <a:buNone/>
                      </a:pPr>
                      <a:r>
                        <a:rPr lang="en" sz="1200" b="1">
                          <a:latin typeface="Proxima Nova"/>
                          <a:ea typeface="Proxima Nova"/>
                          <a:cs typeface="Proxima Nova"/>
                          <a:sym typeface="Proxima Nova"/>
                        </a:rPr>
                        <a:t>Model Size</a:t>
                      </a:r>
                      <a:endParaRPr sz="1200" b="1">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0025">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Graduate</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Dropout</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Enrolled</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Testing data</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663</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427</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239</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2"/>
          <p:cNvSpPr txBox="1">
            <a:spLocks noGrp="1"/>
          </p:cNvSpPr>
          <p:nvPr>
            <p:ph type="title"/>
          </p:nvPr>
        </p:nvSpPr>
        <p:spPr>
          <a:xfrm>
            <a:off x="311700" y="159556"/>
            <a:ext cx="8520600" cy="636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latin typeface="Proxima Nova"/>
                <a:ea typeface="Proxima Nova"/>
                <a:cs typeface="Proxima Nova"/>
                <a:sym typeface="Proxima Nova"/>
              </a:rPr>
              <a:t>Random Forest: Model Results</a:t>
            </a:r>
            <a:endParaRPr sz="1550" b="1">
              <a:latin typeface="Proxima Nova"/>
              <a:ea typeface="Proxima Nova"/>
              <a:cs typeface="Proxima Nova"/>
              <a:sym typeface="Proxima Nova"/>
            </a:endParaRPr>
          </a:p>
        </p:txBody>
      </p:sp>
      <p:graphicFrame>
        <p:nvGraphicFramePr>
          <p:cNvPr id="140" name="Google Shape;140;p22"/>
          <p:cNvGraphicFramePr/>
          <p:nvPr/>
        </p:nvGraphicFramePr>
        <p:xfrm>
          <a:off x="311700" y="2215156"/>
          <a:ext cx="4857750" cy="1149035"/>
        </p:xfrm>
        <a:graphic>
          <a:graphicData uri="http://schemas.openxmlformats.org/drawingml/2006/table">
            <a:tbl>
              <a:tblPr>
                <a:noFill/>
                <a:tableStyleId>{8F727CA1-A22B-4835-B2F0-923C0CB78E8B}</a:tableStyleId>
              </a:tblPr>
              <a:tblGrid>
                <a:gridCol w="104775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952500">
                  <a:extLst>
                    <a:ext uri="{9D8B030D-6E8A-4147-A177-3AD203B41FA5}">
                      <a16:colId xmlns:a16="http://schemas.microsoft.com/office/drawing/2014/main" val="20004"/>
                    </a:ext>
                  </a:extLst>
                </a:gridCol>
              </a:tblGrid>
              <a:tr h="200025">
                <a:tc gridSpan="5">
                  <a:txBody>
                    <a:bodyPr/>
                    <a:lstStyle/>
                    <a:p>
                      <a:pPr marL="0" lvl="0" indent="0" algn="ctr" rtl="0">
                        <a:lnSpc>
                          <a:spcPct val="115000"/>
                        </a:lnSpc>
                        <a:spcBef>
                          <a:spcPts val="0"/>
                        </a:spcBef>
                        <a:spcAft>
                          <a:spcPts val="0"/>
                        </a:spcAft>
                        <a:buNone/>
                      </a:pPr>
                      <a:r>
                        <a:rPr lang="en" sz="1200" b="1">
                          <a:latin typeface="Proxima Nova"/>
                          <a:ea typeface="Proxima Nova"/>
                          <a:cs typeface="Proxima Nova"/>
                          <a:sym typeface="Proxima Nova"/>
                        </a:rPr>
                        <a:t>Confusion Matrix</a:t>
                      </a:r>
                      <a:endParaRPr sz="1200" b="1">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Prediction</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Graduate</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Dropout</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Enrolled</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Class Error</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Graduate</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1437</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50</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1B9579"/>
                          </a:solidFill>
                          <a:latin typeface="Proxima Nova"/>
                          <a:ea typeface="Proxima Nova"/>
                          <a:cs typeface="Proxima Nova"/>
                          <a:sym typeface="Proxima Nova"/>
                        </a:rPr>
                        <a:t>59</a:t>
                      </a:r>
                      <a:endParaRPr sz="1200" b="1">
                        <a:solidFill>
                          <a:srgbClr val="1B9579"/>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chemeClr val="accent4"/>
                          </a:solidFill>
                          <a:latin typeface="Proxima Nova"/>
                          <a:ea typeface="Proxima Nova"/>
                          <a:cs typeface="Proxima Nova"/>
                          <a:sym typeface="Proxima Nova"/>
                        </a:rPr>
                        <a:t>0.07050453</a:t>
                      </a:r>
                      <a:endParaRPr sz="1200" b="1">
                        <a:solidFill>
                          <a:schemeClr val="accent4"/>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Dropout</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161</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745</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88</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0.25050302</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Enrolled</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CC0000"/>
                          </a:solidFill>
                          <a:latin typeface="Proxima Nova"/>
                          <a:ea typeface="Proxima Nova"/>
                          <a:cs typeface="Proxima Nova"/>
                          <a:sym typeface="Proxima Nova"/>
                        </a:rPr>
                        <a:t>256</a:t>
                      </a:r>
                      <a:endParaRPr sz="1200" b="1">
                        <a:solidFill>
                          <a:srgbClr val="CC0000"/>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CC0000"/>
                          </a:solidFill>
                          <a:latin typeface="Proxima Nova"/>
                          <a:ea typeface="Proxima Nova"/>
                          <a:cs typeface="Proxima Nova"/>
                          <a:sym typeface="Proxima Nova"/>
                        </a:rPr>
                        <a:t>151</a:t>
                      </a:r>
                      <a:endParaRPr sz="1200" b="1">
                        <a:solidFill>
                          <a:srgbClr val="CC0000"/>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148</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CC0000"/>
                          </a:solidFill>
                          <a:latin typeface="Proxima Nova"/>
                          <a:ea typeface="Proxima Nova"/>
                          <a:cs typeface="Proxima Nova"/>
                          <a:sym typeface="Proxima Nova"/>
                        </a:rPr>
                        <a:t>0.73333333</a:t>
                      </a:r>
                      <a:endParaRPr sz="1200" b="1">
                        <a:solidFill>
                          <a:srgbClr val="CC0000"/>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41" name="Google Shape;141;p22"/>
          <p:cNvSpPr txBox="1"/>
          <p:nvPr/>
        </p:nvSpPr>
        <p:spPr>
          <a:xfrm>
            <a:off x="5335825" y="1575025"/>
            <a:ext cx="3561000" cy="25185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High error rate stands out.</a:t>
            </a:r>
            <a:endParaRPr sz="1300">
              <a:solidFill>
                <a:schemeClr val="dk1"/>
              </a:solidFill>
              <a:latin typeface="Proxima Nova"/>
              <a:ea typeface="Proxima Nova"/>
              <a:cs typeface="Proxima Nova"/>
              <a:sym typeface="Proxima Nova"/>
            </a:endParaRPr>
          </a:p>
          <a:p>
            <a:pPr marL="457200" lvl="0" indent="-311150" algn="l" rtl="0">
              <a:lnSpc>
                <a:spcPct val="115000"/>
              </a:lnSpc>
              <a:spcBef>
                <a:spcPts val="120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While the model is great at identifying students who graduate, it is </a:t>
            </a:r>
            <a:r>
              <a:rPr lang="en" sz="1300" b="1">
                <a:solidFill>
                  <a:srgbClr val="CC0000"/>
                </a:solidFill>
                <a:latin typeface="Proxima Nova"/>
                <a:ea typeface="Proxima Nova"/>
                <a:cs typeface="Proxima Nova"/>
                <a:sym typeface="Proxima Nova"/>
              </a:rPr>
              <a:t>struggling significantly</a:t>
            </a:r>
            <a:r>
              <a:rPr lang="en" sz="1300">
                <a:solidFill>
                  <a:schemeClr val="dk1"/>
                </a:solidFill>
                <a:latin typeface="Proxima Nova"/>
                <a:ea typeface="Proxima Nova"/>
                <a:cs typeface="Proxima Nova"/>
                <a:sym typeface="Proxima Nova"/>
              </a:rPr>
              <a:t> to distinguish between students who are have Dropped out and those who have Graduated.</a:t>
            </a:r>
            <a:endParaRPr sz="1300">
              <a:solidFill>
                <a:schemeClr val="dk1"/>
              </a:solidFill>
              <a:latin typeface="Proxima Nova"/>
              <a:ea typeface="Proxima Nova"/>
              <a:cs typeface="Proxima Nova"/>
              <a:sym typeface="Proxima Nova"/>
            </a:endParaRPr>
          </a:p>
          <a:p>
            <a:pPr marL="457200" lvl="0" indent="-311150" algn="l" rtl="0">
              <a:lnSpc>
                <a:spcPct val="115000"/>
              </a:lnSpc>
              <a:spcBef>
                <a:spcPts val="0"/>
              </a:spcBef>
              <a:spcAft>
                <a:spcPts val="1200"/>
              </a:spcAft>
              <a:buClr>
                <a:schemeClr val="dk1"/>
              </a:buClr>
              <a:buSzPts val="1300"/>
              <a:buFont typeface="Proxima Nova"/>
              <a:buChar char="●"/>
            </a:pPr>
            <a:r>
              <a:rPr lang="en" sz="1300">
                <a:solidFill>
                  <a:schemeClr val="dk1"/>
                </a:solidFill>
                <a:latin typeface="Proxima Nova"/>
                <a:ea typeface="Proxima Nova"/>
                <a:cs typeface="Proxima Nova"/>
                <a:sym typeface="Proxima Nova"/>
              </a:rPr>
              <a:t>Our accuracy is still good but </a:t>
            </a:r>
            <a:r>
              <a:rPr lang="en" sz="1300" b="1">
                <a:solidFill>
                  <a:srgbClr val="1B9579"/>
                </a:solidFill>
                <a:latin typeface="Proxima Nova"/>
                <a:ea typeface="Proxima Nova"/>
                <a:cs typeface="Proxima Nova"/>
                <a:sym typeface="Proxima Nova"/>
              </a:rPr>
              <a:t>lower than the classification model</a:t>
            </a:r>
            <a:r>
              <a:rPr lang="en" sz="1300">
                <a:solidFill>
                  <a:schemeClr val="dk1"/>
                </a:solidFill>
                <a:latin typeface="Proxima Nova"/>
                <a:ea typeface="Proxima Nova"/>
                <a:cs typeface="Proxima Nova"/>
                <a:sym typeface="Proxima Nova"/>
              </a:rPr>
              <a:t> (75.28% vs 75.47%); however, it is </a:t>
            </a:r>
            <a:r>
              <a:rPr lang="en" sz="1300" b="1">
                <a:solidFill>
                  <a:srgbClr val="1B9579"/>
                </a:solidFill>
                <a:latin typeface="Proxima Nova"/>
                <a:ea typeface="Proxima Nova"/>
                <a:cs typeface="Proxima Nova"/>
                <a:sym typeface="Proxima Nova"/>
              </a:rPr>
              <a:t>better than the logistic regression model</a:t>
            </a:r>
            <a:r>
              <a:rPr lang="en" sz="1300">
                <a:solidFill>
                  <a:schemeClr val="dk1"/>
                </a:solidFill>
                <a:latin typeface="Proxima Nova"/>
                <a:ea typeface="Proxima Nova"/>
                <a:cs typeface="Proxima Nova"/>
                <a:sym typeface="Proxima Nova"/>
              </a:rPr>
              <a:t> (74.40%)</a:t>
            </a:r>
            <a:endParaRPr sz="1300">
              <a:solidFill>
                <a:schemeClr val="dk1"/>
              </a:solidFill>
              <a:latin typeface="Proxima Nova"/>
              <a:ea typeface="Proxima Nova"/>
              <a:cs typeface="Proxima Nova"/>
              <a:sym typeface="Proxima Nova"/>
            </a:endParaRPr>
          </a:p>
        </p:txBody>
      </p:sp>
      <p:cxnSp>
        <p:nvCxnSpPr>
          <p:cNvPr id="142" name="Google Shape;142;p22"/>
          <p:cNvCxnSpPr/>
          <p:nvPr/>
        </p:nvCxnSpPr>
        <p:spPr>
          <a:xfrm>
            <a:off x="279300" y="4217025"/>
            <a:ext cx="8594100" cy="0"/>
          </a:xfrm>
          <a:prstGeom prst="straightConnector1">
            <a:avLst/>
          </a:prstGeom>
          <a:noFill/>
          <a:ln w="9525" cap="flat" cmpd="sng">
            <a:solidFill>
              <a:schemeClr val="dk2"/>
            </a:solidFill>
            <a:prstDash val="solid"/>
            <a:round/>
            <a:headEnd type="none" w="med" len="med"/>
            <a:tailEnd type="none" w="med" len="med"/>
          </a:ln>
        </p:spPr>
      </p:cxnSp>
      <p:graphicFrame>
        <p:nvGraphicFramePr>
          <p:cNvPr id="143" name="Google Shape;143;p22"/>
          <p:cNvGraphicFramePr/>
          <p:nvPr/>
        </p:nvGraphicFramePr>
        <p:xfrm>
          <a:off x="279300" y="4329600"/>
          <a:ext cx="2938175" cy="689421"/>
        </p:xfrm>
        <a:graphic>
          <a:graphicData uri="http://schemas.openxmlformats.org/drawingml/2006/table">
            <a:tbl>
              <a:tblPr>
                <a:noFill/>
                <a:tableStyleId>{8F727CA1-A22B-4835-B2F0-923C0CB78E8B}</a:tableStyleId>
              </a:tblPr>
              <a:tblGrid>
                <a:gridCol w="1042575">
                  <a:extLst>
                    <a:ext uri="{9D8B030D-6E8A-4147-A177-3AD203B41FA5}">
                      <a16:colId xmlns:a16="http://schemas.microsoft.com/office/drawing/2014/main" val="20000"/>
                    </a:ext>
                  </a:extLst>
                </a:gridCol>
                <a:gridCol w="947800">
                  <a:extLst>
                    <a:ext uri="{9D8B030D-6E8A-4147-A177-3AD203B41FA5}">
                      <a16:colId xmlns:a16="http://schemas.microsoft.com/office/drawing/2014/main" val="20001"/>
                    </a:ext>
                  </a:extLst>
                </a:gridCol>
                <a:gridCol w="947800">
                  <a:extLst>
                    <a:ext uri="{9D8B030D-6E8A-4147-A177-3AD203B41FA5}">
                      <a16:colId xmlns:a16="http://schemas.microsoft.com/office/drawing/2014/main" val="20002"/>
                    </a:ext>
                  </a:extLst>
                </a:gridCol>
              </a:tblGrid>
              <a:tr h="200025">
                <a:tc gridSpan="3">
                  <a:txBody>
                    <a:bodyPr/>
                    <a:lstStyle/>
                    <a:p>
                      <a:pPr marL="0" lvl="0" indent="0" algn="l" rtl="0">
                        <a:lnSpc>
                          <a:spcPct val="115000"/>
                        </a:lnSpc>
                        <a:spcBef>
                          <a:spcPts val="0"/>
                        </a:spcBef>
                        <a:spcAft>
                          <a:spcPts val="0"/>
                        </a:spcAft>
                        <a:buNone/>
                      </a:pPr>
                      <a:r>
                        <a:rPr lang="en" sz="1200" b="1">
                          <a:solidFill>
                            <a:schemeClr val="dk1"/>
                          </a:solidFill>
                          <a:latin typeface="Proxima Nova"/>
                          <a:ea typeface="Proxima Nova"/>
                          <a:cs typeface="Proxima Nova"/>
                          <a:sym typeface="Proxima Nova"/>
                        </a:rPr>
                        <a:t>Check for Class Imbalance</a:t>
                      </a:r>
                      <a:endParaRPr sz="1200" b="1">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0025">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Graduate</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Dropout</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Enrolled</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r" rtl="0">
                        <a:lnSpc>
                          <a:spcPct val="115000"/>
                        </a:lnSpc>
                        <a:spcBef>
                          <a:spcPts val="0"/>
                        </a:spcBef>
                        <a:spcAft>
                          <a:spcPts val="0"/>
                        </a:spcAft>
                        <a:buNone/>
                      </a:pPr>
                      <a:r>
                        <a:rPr lang="en" sz="1200" b="1">
                          <a:solidFill>
                            <a:schemeClr val="dk1"/>
                          </a:solidFill>
                          <a:latin typeface="Proxima Nova"/>
                          <a:ea typeface="Proxima Nova"/>
                          <a:cs typeface="Proxima Nova"/>
                          <a:sym typeface="Proxima Nova"/>
                        </a:rPr>
                        <a:t>1546</a:t>
                      </a:r>
                      <a:endParaRPr sz="1200" b="1">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994</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chemeClr val="dk1"/>
                          </a:solidFill>
                          <a:latin typeface="Proxima Nova"/>
                          <a:ea typeface="Proxima Nova"/>
                          <a:cs typeface="Proxima Nova"/>
                          <a:sym typeface="Proxima Nova"/>
                        </a:rPr>
                        <a:t>555</a:t>
                      </a:r>
                      <a:endParaRPr sz="1200" b="1">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44" name="Google Shape;144;p22"/>
          <p:cNvSpPr txBox="1"/>
          <p:nvPr/>
        </p:nvSpPr>
        <p:spPr>
          <a:xfrm>
            <a:off x="3340900" y="4329600"/>
            <a:ext cx="5650500" cy="12888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Class imbalance confirmed.</a:t>
            </a:r>
            <a:endParaRPr sz="1300">
              <a:solidFill>
                <a:schemeClr val="dk1"/>
              </a:solidFill>
              <a:latin typeface="Proxima Nova"/>
              <a:ea typeface="Proxima Nova"/>
              <a:cs typeface="Proxima Nova"/>
              <a:sym typeface="Proxima Nova"/>
            </a:endParaRPr>
          </a:p>
          <a:p>
            <a:pPr marL="457200" lvl="0" indent="-311150" algn="l" rtl="0">
              <a:lnSpc>
                <a:spcPct val="115000"/>
              </a:lnSpc>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We have nearly three times as many Graduates as Enrolled students.</a:t>
            </a:r>
            <a:endParaRPr sz="1300">
              <a:solidFill>
                <a:schemeClr val="dk1"/>
              </a:solidFill>
              <a:latin typeface="Proxima Nova"/>
              <a:ea typeface="Proxima Nova"/>
              <a:cs typeface="Proxima Nova"/>
              <a:sym typeface="Proxima Nova"/>
            </a:endParaRPr>
          </a:p>
          <a:p>
            <a:pPr marL="457200" lvl="0" indent="-311150" algn="l" rtl="0">
              <a:lnSpc>
                <a:spcPct val="115000"/>
              </a:lnSpc>
              <a:spcBef>
                <a:spcPts val="0"/>
              </a:spcBef>
              <a:spcAft>
                <a:spcPts val="1200"/>
              </a:spcAft>
              <a:buClr>
                <a:schemeClr val="dk1"/>
              </a:buClr>
              <a:buSzPts val="1300"/>
              <a:buFont typeface="Proxima Nova"/>
              <a:buChar char="●"/>
            </a:pPr>
            <a:r>
              <a:rPr lang="en" sz="1300">
                <a:solidFill>
                  <a:schemeClr val="dk1"/>
                </a:solidFill>
                <a:latin typeface="Proxima Nova"/>
                <a:ea typeface="Proxima Nova"/>
                <a:cs typeface="Proxima Nova"/>
                <a:sym typeface="Proxima Nova"/>
              </a:rPr>
              <a:t>The model is biased toward the "Graduate" class because it has the most observations (1,546). The "Enrolled" class is the smallest, leading the model to misclassify 256 Enrolled students as Graduates!</a:t>
            </a:r>
            <a:endParaRPr sz="1300">
              <a:solidFill>
                <a:schemeClr val="dk1"/>
              </a:solidFill>
              <a:latin typeface="Proxima Nova"/>
              <a:ea typeface="Proxima Nova"/>
              <a:cs typeface="Proxima Nova"/>
              <a:sym typeface="Proxima Nova"/>
            </a:endParaRPr>
          </a:p>
        </p:txBody>
      </p:sp>
      <p:graphicFrame>
        <p:nvGraphicFramePr>
          <p:cNvPr id="145" name="Google Shape;145;p22"/>
          <p:cNvGraphicFramePr/>
          <p:nvPr/>
        </p:nvGraphicFramePr>
        <p:xfrm>
          <a:off x="311700" y="3598238"/>
          <a:ext cx="2761450" cy="459614"/>
        </p:xfrm>
        <a:graphic>
          <a:graphicData uri="http://schemas.openxmlformats.org/drawingml/2006/table">
            <a:tbl>
              <a:tblPr>
                <a:noFill/>
                <a:tableStyleId>{8F727CA1-A22B-4835-B2F0-923C0CB78E8B}</a:tableStyleId>
              </a:tblPr>
              <a:tblGrid>
                <a:gridCol w="1446475">
                  <a:extLst>
                    <a:ext uri="{9D8B030D-6E8A-4147-A177-3AD203B41FA5}">
                      <a16:colId xmlns:a16="http://schemas.microsoft.com/office/drawing/2014/main" val="20000"/>
                    </a:ext>
                  </a:extLst>
                </a:gridCol>
                <a:gridCol w="1314975">
                  <a:extLst>
                    <a:ext uri="{9D8B030D-6E8A-4147-A177-3AD203B41FA5}">
                      <a16:colId xmlns:a16="http://schemas.microsoft.com/office/drawing/2014/main" val="20001"/>
                    </a:ext>
                  </a:extLst>
                </a:gridCol>
              </a:tblGrid>
              <a:tr h="200025">
                <a:tc>
                  <a:txBody>
                    <a:bodyPr/>
                    <a:lstStyle/>
                    <a:p>
                      <a:pPr marL="0" lvl="0" indent="0" algn="l" rtl="0">
                        <a:lnSpc>
                          <a:spcPct val="115000"/>
                        </a:lnSpc>
                        <a:spcBef>
                          <a:spcPts val="0"/>
                        </a:spcBef>
                        <a:spcAft>
                          <a:spcPts val="0"/>
                        </a:spcAft>
                        <a:buNone/>
                      </a:pPr>
                      <a:r>
                        <a:rPr lang="en" sz="1200" b="1">
                          <a:latin typeface="Proxima Nova"/>
                          <a:ea typeface="Proxima Nova"/>
                          <a:cs typeface="Proxima Nova"/>
                          <a:sym typeface="Proxima Nova"/>
                        </a:rPr>
                        <a:t>OOB Error Rate</a:t>
                      </a:r>
                      <a:endParaRPr sz="1200" b="1">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24.72%</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0"/>
                  </a:ext>
                </a:extLst>
              </a:tr>
              <a:tr h="200025">
                <a:tc>
                  <a:txBody>
                    <a:bodyPr/>
                    <a:lstStyle/>
                    <a:p>
                      <a:pPr marL="0" lvl="0" indent="0" algn="l" rtl="0">
                        <a:lnSpc>
                          <a:spcPct val="115000"/>
                        </a:lnSpc>
                        <a:spcBef>
                          <a:spcPts val="0"/>
                        </a:spcBef>
                        <a:spcAft>
                          <a:spcPts val="0"/>
                        </a:spcAft>
                        <a:buNone/>
                      </a:pPr>
                      <a:r>
                        <a:rPr lang="en" sz="1200" b="1">
                          <a:latin typeface="Proxima Nova"/>
                          <a:ea typeface="Proxima Nova"/>
                          <a:cs typeface="Proxima Nova"/>
                          <a:sym typeface="Proxima Nova"/>
                        </a:rPr>
                        <a:t>Accuracy</a:t>
                      </a:r>
                      <a:endParaRPr sz="1200" b="1">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75.28%</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46" name="Google Shape;146;p22"/>
          <p:cNvGraphicFramePr/>
          <p:nvPr/>
        </p:nvGraphicFramePr>
        <p:xfrm>
          <a:off x="311700" y="1079725"/>
          <a:ext cx="3561075" cy="919228"/>
        </p:xfrm>
        <a:graphic>
          <a:graphicData uri="http://schemas.openxmlformats.org/drawingml/2006/table">
            <a:tbl>
              <a:tblPr>
                <a:noFill/>
                <a:tableStyleId>{8F727CA1-A22B-4835-B2F0-923C0CB78E8B}</a:tableStyleId>
              </a:tblPr>
              <a:tblGrid>
                <a:gridCol w="1065000">
                  <a:extLst>
                    <a:ext uri="{9D8B030D-6E8A-4147-A177-3AD203B41FA5}">
                      <a16:colId xmlns:a16="http://schemas.microsoft.com/office/drawing/2014/main" val="20000"/>
                    </a:ext>
                  </a:extLst>
                </a:gridCol>
                <a:gridCol w="832025">
                  <a:extLst>
                    <a:ext uri="{9D8B030D-6E8A-4147-A177-3AD203B41FA5}">
                      <a16:colId xmlns:a16="http://schemas.microsoft.com/office/drawing/2014/main" val="20001"/>
                    </a:ext>
                  </a:extLst>
                </a:gridCol>
                <a:gridCol w="832025">
                  <a:extLst>
                    <a:ext uri="{9D8B030D-6E8A-4147-A177-3AD203B41FA5}">
                      <a16:colId xmlns:a16="http://schemas.microsoft.com/office/drawing/2014/main" val="20002"/>
                    </a:ext>
                  </a:extLst>
                </a:gridCol>
                <a:gridCol w="832025">
                  <a:extLst>
                    <a:ext uri="{9D8B030D-6E8A-4147-A177-3AD203B41FA5}">
                      <a16:colId xmlns:a16="http://schemas.microsoft.com/office/drawing/2014/main" val="20003"/>
                    </a:ext>
                  </a:extLst>
                </a:gridCol>
              </a:tblGrid>
              <a:tr h="200025">
                <a:tc gridSpan="4">
                  <a:txBody>
                    <a:bodyPr/>
                    <a:lstStyle/>
                    <a:p>
                      <a:pPr marL="0" lvl="0" indent="0" algn="ctr" rtl="0">
                        <a:lnSpc>
                          <a:spcPct val="115000"/>
                        </a:lnSpc>
                        <a:spcBef>
                          <a:spcPts val="0"/>
                        </a:spcBef>
                        <a:spcAft>
                          <a:spcPts val="0"/>
                        </a:spcAft>
                        <a:buNone/>
                      </a:pPr>
                      <a:r>
                        <a:rPr lang="en" sz="1200" b="1">
                          <a:latin typeface="Proxima Nova"/>
                          <a:ea typeface="Proxima Nova"/>
                          <a:cs typeface="Proxima Nova"/>
                          <a:sym typeface="Proxima Nova"/>
                        </a:rPr>
                        <a:t>Model Size</a:t>
                      </a:r>
                      <a:endParaRPr sz="1200" b="1">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0025">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Graduate</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Dropout</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Enrolled</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Testing data</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663</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427</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239</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Training data</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1546</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994</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555</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3"/>
          <p:cNvSpPr txBox="1">
            <a:spLocks noGrp="1"/>
          </p:cNvSpPr>
          <p:nvPr>
            <p:ph type="title"/>
          </p:nvPr>
        </p:nvSpPr>
        <p:spPr>
          <a:xfrm>
            <a:off x="311700" y="159556"/>
            <a:ext cx="8520600" cy="636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latin typeface="Proxima Nova"/>
                <a:ea typeface="Proxima Nova"/>
                <a:cs typeface="Proxima Nova"/>
                <a:sym typeface="Proxima Nova"/>
              </a:rPr>
              <a:t>Balanced Random Forest: Model Results</a:t>
            </a:r>
            <a:endParaRPr sz="1550" b="1">
              <a:latin typeface="Proxima Nova"/>
              <a:ea typeface="Proxima Nova"/>
              <a:cs typeface="Proxima Nova"/>
              <a:sym typeface="Proxima Nova"/>
            </a:endParaRPr>
          </a:p>
        </p:txBody>
      </p:sp>
      <p:graphicFrame>
        <p:nvGraphicFramePr>
          <p:cNvPr id="152" name="Google Shape;152;p23"/>
          <p:cNvGraphicFramePr/>
          <p:nvPr/>
        </p:nvGraphicFramePr>
        <p:xfrm>
          <a:off x="311700" y="1565619"/>
          <a:ext cx="3561075" cy="919228"/>
        </p:xfrm>
        <a:graphic>
          <a:graphicData uri="http://schemas.openxmlformats.org/drawingml/2006/table">
            <a:tbl>
              <a:tblPr>
                <a:noFill/>
                <a:tableStyleId>{8F727CA1-A22B-4835-B2F0-923C0CB78E8B}</a:tableStyleId>
              </a:tblPr>
              <a:tblGrid>
                <a:gridCol w="1065000">
                  <a:extLst>
                    <a:ext uri="{9D8B030D-6E8A-4147-A177-3AD203B41FA5}">
                      <a16:colId xmlns:a16="http://schemas.microsoft.com/office/drawing/2014/main" val="20000"/>
                    </a:ext>
                  </a:extLst>
                </a:gridCol>
                <a:gridCol w="832025">
                  <a:extLst>
                    <a:ext uri="{9D8B030D-6E8A-4147-A177-3AD203B41FA5}">
                      <a16:colId xmlns:a16="http://schemas.microsoft.com/office/drawing/2014/main" val="20001"/>
                    </a:ext>
                  </a:extLst>
                </a:gridCol>
                <a:gridCol w="832025">
                  <a:extLst>
                    <a:ext uri="{9D8B030D-6E8A-4147-A177-3AD203B41FA5}">
                      <a16:colId xmlns:a16="http://schemas.microsoft.com/office/drawing/2014/main" val="20002"/>
                    </a:ext>
                  </a:extLst>
                </a:gridCol>
                <a:gridCol w="832025">
                  <a:extLst>
                    <a:ext uri="{9D8B030D-6E8A-4147-A177-3AD203B41FA5}">
                      <a16:colId xmlns:a16="http://schemas.microsoft.com/office/drawing/2014/main" val="20003"/>
                    </a:ext>
                  </a:extLst>
                </a:gridCol>
              </a:tblGrid>
              <a:tr h="200025">
                <a:tc gridSpan="4">
                  <a:txBody>
                    <a:bodyPr/>
                    <a:lstStyle/>
                    <a:p>
                      <a:pPr marL="0" lvl="0" indent="0" algn="ctr" rtl="0">
                        <a:lnSpc>
                          <a:spcPct val="115000"/>
                        </a:lnSpc>
                        <a:spcBef>
                          <a:spcPts val="0"/>
                        </a:spcBef>
                        <a:spcAft>
                          <a:spcPts val="0"/>
                        </a:spcAft>
                        <a:buNone/>
                      </a:pPr>
                      <a:r>
                        <a:rPr lang="en" sz="1200" b="1">
                          <a:latin typeface="Proxima Nova"/>
                          <a:ea typeface="Proxima Nova"/>
                          <a:cs typeface="Proxima Nova"/>
                          <a:sym typeface="Proxima Nova"/>
                        </a:rPr>
                        <a:t>Model Size</a:t>
                      </a:r>
                      <a:endParaRPr sz="1200" b="1">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0025">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Graduate</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Dropout</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Enrolled</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Testing data</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663</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427</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239</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Training data</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1B9579"/>
                          </a:solidFill>
                          <a:latin typeface="Proxima Nova"/>
                          <a:ea typeface="Proxima Nova"/>
                          <a:cs typeface="Proxima Nova"/>
                          <a:sym typeface="Proxima Nova"/>
                        </a:rPr>
                        <a:t>555</a:t>
                      </a:r>
                      <a:endParaRPr sz="1200" b="1">
                        <a:solidFill>
                          <a:srgbClr val="1B9579"/>
                        </a:solidFill>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1B9579"/>
                          </a:solidFill>
                          <a:latin typeface="Proxima Nova"/>
                          <a:ea typeface="Proxima Nova"/>
                          <a:cs typeface="Proxima Nova"/>
                          <a:sym typeface="Proxima Nova"/>
                        </a:rPr>
                        <a:t>555</a:t>
                      </a:r>
                      <a:endParaRPr sz="1200" b="1">
                        <a:solidFill>
                          <a:srgbClr val="1B9579"/>
                        </a:solidFill>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1B9579"/>
                          </a:solidFill>
                          <a:latin typeface="Proxima Nova"/>
                          <a:ea typeface="Proxima Nova"/>
                          <a:cs typeface="Proxima Nova"/>
                          <a:sym typeface="Proxima Nova"/>
                        </a:rPr>
                        <a:t>555</a:t>
                      </a:r>
                      <a:endParaRPr sz="1200" b="1">
                        <a:solidFill>
                          <a:srgbClr val="1B9579"/>
                        </a:solidFill>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153" name="Google Shape;153;p23"/>
          <p:cNvGraphicFramePr/>
          <p:nvPr/>
        </p:nvGraphicFramePr>
        <p:xfrm>
          <a:off x="311700" y="2658613"/>
          <a:ext cx="4857750" cy="1149035"/>
        </p:xfrm>
        <a:graphic>
          <a:graphicData uri="http://schemas.openxmlformats.org/drawingml/2006/table">
            <a:tbl>
              <a:tblPr>
                <a:noFill/>
                <a:tableStyleId>{8F727CA1-A22B-4835-B2F0-923C0CB78E8B}</a:tableStyleId>
              </a:tblPr>
              <a:tblGrid>
                <a:gridCol w="104775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952500">
                  <a:extLst>
                    <a:ext uri="{9D8B030D-6E8A-4147-A177-3AD203B41FA5}">
                      <a16:colId xmlns:a16="http://schemas.microsoft.com/office/drawing/2014/main" val="20004"/>
                    </a:ext>
                  </a:extLst>
                </a:gridCol>
              </a:tblGrid>
              <a:tr h="200025">
                <a:tc gridSpan="5">
                  <a:txBody>
                    <a:bodyPr/>
                    <a:lstStyle/>
                    <a:p>
                      <a:pPr marL="0" lvl="0" indent="0" algn="ctr" rtl="0">
                        <a:lnSpc>
                          <a:spcPct val="115000"/>
                        </a:lnSpc>
                        <a:spcBef>
                          <a:spcPts val="0"/>
                        </a:spcBef>
                        <a:spcAft>
                          <a:spcPts val="0"/>
                        </a:spcAft>
                        <a:buNone/>
                      </a:pPr>
                      <a:r>
                        <a:rPr lang="en" sz="1200" b="1">
                          <a:latin typeface="Proxima Nova"/>
                          <a:ea typeface="Proxima Nova"/>
                          <a:cs typeface="Proxima Nova"/>
                          <a:sym typeface="Proxima Nova"/>
                        </a:rPr>
                        <a:t>Confusion Matrix</a:t>
                      </a:r>
                      <a:endParaRPr sz="1200" b="1">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Prediction</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Graduate</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Dropout</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Enrolled</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Class Error</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Graduate</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1309</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55</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chemeClr val="accent4"/>
                          </a:solidFill>
                          <a:latin typeface="Proxima Nova"/>
                          <a:ea typeface="Proxima Nova"/>
                          <a:cs typeface="Proxima Nova"/>
                          <a:sym typeface="Proxima Nova"/>
                        </a:rPr>
                        <a:t>182</a:t>
                      </a:r>
                      <a:endParaRPr sz="1200" b="1">
                        <a:solidFill>
                          <a:schemeClr val="accent4"/>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chemeClr val="accent4"/>
                          </a:solidFill>
                          <a:latin typeface="Proxima Nova"/>
                          <a:ea typeface="Proxima Nova"/>
                          <a:cs typeface="Proxima Nova"/>
                          <a:sym typeface="Proxima Nova"/>
                        </a:rPr>
                        <a:t>0.1533</a:t>
                      </a:r>
                      <a:endParaRPr sz="1200" b="1">
                        <a:solidFill>
                          <a:schemeClr val="accent4"/>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Dropout</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119</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711</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164</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0.2847</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Enrolled</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chemeClr val="accent4"/>
                          </a:solidFill>
                          <a:latin typeface="Proxima Nova"/>
                          <a:ea typeface="Proxima Nova"/>
                          <a:cs typeface="Proxima Nova"/>
                          <a:sym typeface="Proxima Nova"/>
                        </a:rPr>
                        <a:t>181</a:t>
                      </a:r>
                      <a:endParaRPr sz="1200" b="1">
                        <a:solidFill>
                          <a:schemeClr val="accent4"/>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chemeClr val="accent4"/>
                          </a:solidFill>
                          <a:latin typeface="Proxima Nova"/>
                          <a:ea typeface="Proxima Nova"/>
                          <a:cs typeface="Proxima Nova"/>
                          <a:sym typeface="Proxima Nova"/>
                        </a:rPr>
                        <a:t>102</a:t>
                      </a:r>
                      <a:endParaRPr sz="1200" b="1">
                        <a:solidFill>
                          <a:schemeClr val="accent4"/>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1B9579"/>
                          </a:solidFill>
                          <a:latin typeface="Proxima Nova"/>
                          <a:ea typeface="Proxima Nova"/>
                          <a:cs typeface="Proxima Nova"/>
                          <a:sym typeface="Proxima Nova"/>
                        </a:rPr>
                        <a:t>272</a:t>
                      </a:r>
                      <a:endParaRPr sz="1200" b="1">
                        <a:solidFill>
                          <a:srgbClr val="1B9579"/>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chemeClr val="accent4"/>
                          </a:solidFill>
                          <a:latin typeface="Proxima Nova"/>
                          <a:ea typeface="Proxima Nova"/>
                          <a:cs typeface="Proxima Nova"/>
                          <a:sym typeface="Proxima Nova"/>
                        </a:rPr>
                        <a:t>0.5099</a:t>
                      </a:r>
                      <a:endParaRPr sz="1200" b="1">
                        <a:solidFill>
                          <a:schemeClr val="accent4"/>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54" name="Google Shape;154;p23"/>
          <p:cNvSpPr txBox="1"/>
          <p:nvPr/>
        </p:nvSpPr>
        <p:spPr>
          <a:xfrm>
            <a:off x="311767" y="877325"/>
            <a:ext cx="8520600" cy="5859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Goal: To sample an equal number of rows from each class when building the tree.</a:t>
            </a:r>
            <a:endParaRPr sz="1300">
              <a:solidFill>
                <a:schemeClr val="dk1"/>
              </a:solidFill>
              <a:latin typeface="Proxima Nova"/>
              <a:ea typeface="Proxima Nova"/>
              <a:cs typeface="Proxima Nova"/>
              <a:sym typeface="Proxima Nova"/>
            </a:endParaRPr>
          </a:p>
          <a:p>
            <a:pPr marL="457200" lvl="0" indent="-311150" algn="l" rtl="0">
              <a:lnSpc>
                <a:spcPct val="115000"/>
              </a:lnSpc>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Reference sample size: 555 (smallest class size)</a:t>
            </a:r>
            <a:endParaRPr sz="1300">
              <a:solidFill>
                <a:schemeClr val="dk1"/>
              </a:solidFill>
              <a:latin typeface="Proxima Nova"/>
              <a:ea typeface="Proxima Nova"/>
              <a:cs typeface="Proxima Nova"/>
              <a:sym typeface="Proxima Nova"/>
            </a:endParaRPr>
          </a:p>
        </p:txBody>
      </p:sp>
      <p:sp>
        <p:nvSpPr>
          <p:cNvPr id="155" name="Google Shape;155;p23"/>
          <p:cNvSpPr txBox="1"/>
          <p:nvPr/>
        </p:nvSpPr>
        <p:spPr>
          <a:xfrm>
            <a:off x="311775" y="4692200"/>
            <a:ext cx="8668800" cy="8427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120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Much better results!</a:t>
            </a:r>
            <a:endParaRPr sz="1300">
              <a:solidFill>
                <a:schemeClr val="dk1"/>
              </a:solidFill>
              <a:latin typeface="Proxima Nova"/>
              <a:ea typeface="Proxima Nova"/>
              <a:cs typeface="Proxima Nova"/>
              <a:sym typeface="Proxima Nova"/>
            </a:endParaRPr>
          </a:p>
          <a:p>
            <a:pPr marL="457200" lvl="0" indent="-311150" algn="l" rtl="0">
              <a:lnSpc>
                <a:spcPct val="115000"/>
              </a:lnSpc>
              <a:spcBef>
                <a:spcPts val="0"/>
              </a:spcBef>
              <a:spcAft>
                <a:spcPts val="0"/>
              </a:spcAft>
              <a:buClr>
                <a:schemeClr val="dk1"/>
              </a:buClr>
              <a:buSzPts val="1300"/>
              <a:buFont typeface="Proxima Nova"/>
              <a:buChar char="●"/>
            </a:pPr>
            <a:r>
              <a:rPr lang="en">
                <a:solidFill>
                  <a:schemeClr val="dk1"/>
                </a:solidFill>
                <a:latin typeface="Proxima Nova"/>
                <a:ea typeface="Proxima Nova"/>
                <a:cs typeface="Proxima Nova"/>
                <a:sym typeface="Proxima Nova"/>
              </a:rPr>
              <a:t>By downsampling, we cut the </a:t>
            </a:r>
            <a:r>
              <a:rPr lang="en" b="1">
                <a:solidFill>
                  <a:schemeClr val="dk1"/>
                </a:solidFill>
                <a:latin typeface="Proxima Nova"/>
                <a:ea typeface="Proxima Nova"/>
                <a:cs typeface="Proxima Nova"/>
                <a:sym typeface="Proxima Nova"/>
              </a:rPr>
              <a:t>Enrolled</a:t>
            </a:r>
            <a:r>
              <a:rPr lang="en">
                <a:solidFill>
                  <a:schemeClr val="dk1"/>
                </a:solidFill>
                <a:latin typeface="Proxima Nova"/>
                <a:ea typeface="Proxima Nova"/>
                <a:cs typeface="Proxima Nova"/>
                <a:sym typeface="Proxima Nova"/>
              </a:rPr>
              <a:t> error rate from </a:t>
            </a:r>
            <a:r>
              <a:rPr lang="en" b="1">
                <a:solidFill>
                  <a:srgbClr val="1B9579"/>
                </a:solidFill>
                <a:latin typeface="Proxima Nova"/>
                <a:ea typeface="Proxima Nova"/>
                <a:cs typeface="Proxima Nova"/>
                <a:sym typeface="Proxima Nova"/>
              </a:rPr>
              <a:t>73% down to 51%</a:t>
            </a:r>
            <a:r>
              <a:rPr lang="en">
                <a:solidFill>
                  <a:schemeClr val="dk1"/>
                </a:solidFill>
                <a:latin typeface="Proxima Nova"/>
                <a:ea typeface="Proxima Nova"/>
                <a:cs typeface="Proxima Nova"/>
                <a:sym typeface="Proxima Nova"/>
              </a:rPr>
              <a:t>.</a:t>
            </a:r>
            <a:endParaRPr>
              <a:solidFill>
                <a:schemeClr val="dk1"/>
              </a:solidFill>
              <a:latin typeface="Proxima Nova"/>
              <a:ea typeface="Proxima Nova"/>
              <a:cs typeface="Proxima Nova"/>
              <a:sym typeface="Proxima Nova"/>
            </a:endParaRPr>
          </a:p>
          <a:p>
            <a:pPr marL="457200" lvl="0" indent="-317500" algn="l" rtl="0">
              <a:lnSpc>
                <a:spcPct val="115000"/>
              </a:lnSpc>
              <a:spcBef>
                <a:spcPts val="0"/>
              </a:spcBef>
              <a:spcAft>
                <a:spcPts val="0"/>
              </a:spcAft>
              <a:buClr>
                <a:schemeClr val="dk1"/>
              </a:buClr>
              <a:buSzPts val="1400"/>
              <a:buFont typeface="Proxima Nova"/>
              <a:buChar char="●"/>
            </a:pPr>
            <a:r>
              <a:rPr lang="en">
                <a:solidFill>
                  <a:schemeClr val="dk1"/>
                </a:solidFill>
                <a:latin typeface="Proxima Nova"/>
                <a:ea typeface="Proxima Nova"/>
                <a:cs typeface="Proxima Nova"/>
                <a:sym typeface="Proxima Nova"/>
              </a:rPr>
              <a:t>Model accuracy dropped slightly (from 75.28% to 74.05%); however, the model is now significantly more honest about the Enrolled class. It's no longer just defaulting to the majority labels.</a:t>
            </a:r>
            <a:endParaRPr>
              <a:solidFill>
                <a:schemeClr val="dk1"/>
              </a:solidFill>
              <a:latin typeface="Proxima Nova"/>
              <a:ea typeface="Proxima Nova"/>
              <a:cs typeface="Proxima Nova"/>
              <a:sym typeface="Proxima Nova"/>
            </a:endParaRPr>
          </a:p>
        </p:txBody>
      </p:sp>
      <p:graphicFrame>
        <p:nvGraphicFramePr>
          <p:cNvPr id="156" name="Google Shape;156;p23"/>
          <p:cNvGraphicFramePr/>
          <p:nvPr/>
        </p:nvGraphicFramePr>
        <p:xfrm>
          <a:off x="311700" y="3999256"/>
          <a:ext cx="2624800" cy="572707"/>
        </p:xfrm>
        <a:graphic>
          <a:graphicData uri="http://schemas.openxmlformats.org/drawingml/2006/table">
            <a:tbl>
              <a:tblPr>
                <a:noFill/>
                <a:tableStyleId>{8F727CA1-A22B-4835-B2F0-923C0CB78E8B}</a:tableStyleId>
              </a:tblPr>
              <a:tblGrid>
                <a:gridCol w="1312400">
                  <a:extLst>
                    <a:ext uri="{9D8B030D-6E8A-4147-A177-3AD203B41FA5}">
                      <a16:colId xmlns:a16="http://schemas.microsoft.com/office/drawing/2014/main" val="20000"/>
                    </a:ext>
                  </a:extLst>
                </a:gridCol>
                <a:gridCol w="1312400">
                  <a:extLst>
                    <a:ext uri="{9D8B030D-6E8A-4147-A177-3AD203B41FA5}">
                      <a16:colId xmlns:a16="http://schemas.microsoft.com/office/drawing/2014/main" val="20001"/>
                    </a:ext>
                  </a:extLst>
                </a:gridCol>
              </a:tblGrid>
              <a:tr h="342900">
                <a:tc>
                  <a:txBody>
                    <a:bodyPr/>
                    <a:lstStyle/>
                    <a:p>
                      <a:pPr marL="0" lvl="0" indent="0" algn="l" rtl="0">
                        <a:lnSpc>
                          <a:spcPct val="115000"/>
                        </a:lnSpc>
                        <a:spcBef>
                          <a:spcPts val="0"/>
                        </a:spcBef>
                        <a:spcAft>
                          <a:spcPts val="0"/>
                        </a:spcAft>
                        <a:buNone/>
                      </a:pPr>
                      <a:r>
                        <a:rPr lang="en" sz="1200" b="1">
                          <a:latin typeface="Proxima Nova"/>
                          <a:ea typeface="Proxima Nova"/>
                          <a:cs typeface="Proxima Nova"/>
                          <a:sym typeface="Proxima Nova"/>
                        </a:rPr>
                        <a:t>OOB Error Rate</a:t>
                      </a:r>
                      <a:endParaRPr sz="1200" b="1">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25.95%</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0"/>
                  </a:ext>
                </a:extLst>
              </a:tr>
              <a:tr h="200025">
                <a:tc>
                  <a:txBody>
                    <a:bodyPr/>
                    <a:lstStyle/>
                    <a:p>
                      <a:pPr marL="0" lvl="0" indent="0" algn="l" rtl="0">
                        <a:lnSpc>
                          <a:spcPct val="115000"/>
                        </a:lnSpc>
                        <a:spcBef>
                          <a:spcPts val="0"/>
                        </a:spcBef>
                        <a:spcAft>
                          <a:spcPts val="0"/>
                        </a:spcAft>
                        <a:buNone/>
                      </a:pPr>
                      <a:r>
                        <a:rPr lang="en" sz="1200" b="1">
                          <a:latin typeface="Proxima Nova"/>
                          <a:ea typeface="Proxima Nova"/>
                          <a:cs typeface="Proxima Nova"/>
                          <a:sym typeface="Proxima Nova"/>
                        </a:rPr>
                        <a:t>Accuracy</a:t>
                      </a:r>
                      <a:endParaRPr sz="1200" b="1">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74.05%</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57" name="Google Shape;157;p23"/>
          <p:cNvSpPr txBox="1"/>
          <p:nvPr/>
        </p:nvSpPr>
        <p:spPr>
          <a:xfrm>
            <a:off x="5335825" y="1544700"/>
            <a:ext cx="3644700" cy="30147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dk1"/>
              </a:buClr>
              <a:buSzPts val="1300"/>
              <a:buChar char="●"/>
            </a:pPr>
            <a:r>
              <a:rPr lang="en" sz="1300" b="1">
                <a:solidFill>
                  <a:schemeClr val="dk1"/>
                </a:solidFill>
                <a:latin typeface="Proxima Nova"/>
                <a:ea typeface="Proxima Nova"/>
                <a:cs typeface="Proxima Nova"/>
                <a:sym typeface="Proxima Nova"/>
              </a:rPr>
              <a:t>Enrolled vs. Graduate:</a:t>
            </a:r>
            <a:r>
              <a:rPr lang="en" sz="1300">
                <a:solidFill>
                  <a:schemeClr val="dk1"/>
                </a:solidFill>
                <a:latin typeface="Proxima Nova"/>
                <a:ea typeface="Proxima Nova"/>
                <a:cs typeface="Proxima Nova"/>
                <a:sym typeface="Proxima Nova"/>
              </a:rPr>
              <a:t> 182 Graduates were mistaken for Enrolled, and 181 Enrolled were mistaken for Graduates. These two classes are still bleeding into each other, likely because their academic data (grades/credits) looks very similar.</a:t>
            </a:r>
            <a:endParaRPr sz="1300">
              <a:solidFill>
                <a:schemeClr val="dk1"/>
              </a:solidFill>
              <a:latin typeface="Proxima Nova"/>
              <a:ea typeface="Proxima Nova"/>
              <a:cs typeface="Proxima Nova"/>
              <a:sym typeface="Proxima Nova"/>
            </a:endParaRPr>
          </a:p>
          <a:p>
            <a:pPr marL="457200" lvl="0" indent="-311150" algn="l" rtl="0">
              <a:lnSpc>
                <a:spcPct val="115000"/>
              </a:lnSpc>
              <a:spcBef>
                <a:spcPts val="1200"/>
              </a:spcBef>
              <a:spcAft>
                <a:spcPts val="1200"/>
              </a:spcAft>
              <a:buClr>
                <a:schemeClr val="dk1"/>
              </a:buClr>
              <a:buSzPts val="1300"/>
              <a:buChar char="●"/>
            </a:pPr>
            <a:r>
              <a:rPr lang="en" sz="1300" b="1">
                <a:solidFill>
                  <a:schemeClr val="dk1"/>
                </a:solidFill>
                <a:latin typeface="Proxima Nova"/>
                <a:ea typeface="Proxima Nova"/>
                <a:cs typeface="Proxima Nova"/>
                <a:sym typeface="Proxima Nova"/>
              </a:rPr>
              <a:t>The Trade-off:</a:t>
            </a:r>
            <a:r>
              <a:rPr lang="en" sz="1300">
                <a:solidFill>
                  <a:schemeClr val="dk1"/>
                </a:solidFill>
                <a:latin typeface="Proxima Nova"/>
                <a:ea typeface="Proxima Nova"/>
                <a:cs typeface="Proxima Nova"/>
                <a:sym typeface="Proxima Nova"/>
              </a:rPr>
              <a:t> The </a:t>
            </a:r>
            <a:r>
              <a:rPr lang="en" sz="1300" b="1">
                <a:solidFill>
                  <a:schemeClr val="dk1"/>
                </a:solidFill>
                <a:latin typeface="Proxima Nova"/>
                <a:ea typeface="Proxima Nova"/>
                <a:cs typeface="Proxima Nova"/>
                <a:sym typeface="Proxima Nova"/>
              </a:rPr>
              <a:t>Graduate</a:t>
            </a:r>
            <a:r>
              <a:rPr lang="en" sz="1300">
                <a:solidFill>
                  <a:schemeClr val="dk1"/>
                </a:solidFill>
                <a:latin typeface="Proxima Nova"/>
                <a:ea typeface="Proxima Nova"/>
                <a:cs typeface="Proxima Nova"/>
                <a:sym typeface="Proxima Nova"/>
              </a:rPr>
              <a:t> error doubled (from ~7% to 15%). This is the standard "price" of balancing; the model is no longer biased toward the majority, so it makes more mistakes there to get the minority class right.</a:t>
            </a:r>
            <a:endParaRPr sz="1300">
              <a:solidFill>
                <a:schemeClr val="dk1"/>
              </a:solidFill>
              <a:latin typeface="Proxima Nova"/>
              <a:ea typeface="Proxima Nova"/>
              <a:cs typeface="Proxima Nova"/>
              <a:sym typeface="Proxima Nov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4"/>
          <p:cNvSpPr txBox="1">
            <a:spLocks noGrp="1"/>
          </p:cNvSpPr>
          <p:nvPr>
            <p:ph type="title"/>
          </p:nvPr>
        </p:nvSpPr>
        <p:spPr>
          <a:xfrm>
            <a:off x="311700" y="159556"/>
            <a:ext cx="8520600" cy="636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latin typeface="Proxima Nova"/>
                <a:ea typeface="Proxima Nova"/>
                <a:cs typeface="Proxima Nova"/>
                <a:sym typeface="Proxima Nova"/>
              </a:rPr>
              <a:t>Balanced Random Forest: Model Evaluation</a:t>
            </a:r>
            <a:endParaRPr sz="1550" b="1">
              <a:latin typeface="Proxima Nova"/>
              <a:ea typeface="Proxima Nova"/>
              <a:cs typeface="Proxima Nova"/>
              <a:sym typeface="Proxima Nova"/>
            </a:endParaRPr>
          </a:p>
        </p:txBody>
      </p:sp>
      <p:graphicFrame>
        <p:nvGraphicFramePr>
          <p:cNvPr id="163" name="Google Shape;163;p24"/>
          <p:cNvGraphicFramePr/>
          <p:nvPr/>
        </p:nvGraphicFramePr>
        <p:xfrm>
          <a:off x="311700" y="1079725"/>
          <a:ext cx="3561075" cy="689421"/>
        </p:xfrm>
        <a:graphic>
          <a:graphicData uri="http://schemas.openxmlformats.org/drawingml/2006/table">
            <a:tbl>
              <a:tblPr>
                <a:noFill/>
                <a:tableStyleId>{8F727CA1-A22B-4835-B2F0-923C0CB78E8B}</a:tableStyleId>
              </a:tblPr>
              <a:tblGrid>
                <a:gridCol w="1065000">
                  <a:extLst>
                    <a:ext uri="{9D8B030D-6E8A-4147-A177-3AD203B41FA5}">
                      <a16:colId xmlns:a16="http://schemas.microsoft.com/office/drawing/2014/main" val="20000"/>
                    </a:ext>
                  </a:extLst>
                </a:gridCol>
                <a:gridCol w="832025">
                  <a:extLst>
                    <a:ext uri="{9D8B030D-6E8A-4147-A177-3AD203B41FA5}">
                      <a16:colId xmlns:a16="http://schemas.microsoft.com/office/drawing/2014/main" val="20001"/>
                    </a:ext>
                  </a:extLst>
                </a:gridCol>
                <a:gridCol w="832025">
                  <a:extLst>
                    <a:ext uri="{9D8B030D-6E8A-4147-A177-3AD203B41FA5}">
                      <a16:colId xmlns:a16="http://schemas.microsoft.com/office/drawing/2014/main" val="20002"/>
                    </a:ext>
                  </a:extLst>
                </a:gridCol>
                <a:gridCol w="832025">
                  <a:extLst>
                    <a:ext uri="{9D8B030D-6E8A-4147-A177-3AD203B41FA5}">
                      <a16:colId xmlns:a16="http://schemas.microsoft.com/office/drawing/2014/main" val="20003"/>
                    </a:ext>
                  </a:extLst>
                </a:gridCol>
              </a:tblGrid>
              <a:tr h="200025">
                <a:tc gridSpan="4">
                  <a:txBody>
                    <a:bodyPr/>
                    <a:lstStyle/>
                    <a:p>
                      <a:pPr marL="0" lvl="0" indent="0" algn="ctr" rtl="0">
                        <a:lnSpc>
                          <a:spcPct val="115000"/>
                        </a:lnSpc>
                        <a:spcBef>
                          <a:spcPts val="0"/>
                        </a:spcBef>
                        <a:spcAft>
                          <a:spcPts val="0"/>
                        </a:spcAft>
                        <a:buNone/>
                      </a:pPr>
                      <a:r>
                        <a:rPr lang="en" sz="1200" b="1">
                          <a:latin typeface="Proxima Nova"/>
                          <a:ea typeface="Proxima Nova"/>
                          <a:cs typeface="Proxima Nova"/>
                          <a:sym typeface="Proxima Nova"/>
                        </a:rPr>
                        <a:t>Model Size</a:t>
                      </a:r>
                      <a:endParaRPr sz="1200" b="1">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0025">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Graduate</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Dropout</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Enrolled</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Testing data</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663</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427</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239</a:t>
                      </a:r>
                      <a:endParaRPr sz="1200">
                        <a:latin typeface="Proxima Nova"/>
                        <a:ea typeface="Proxima Nova"/>
                        <a:cs typeface="Proxima Nova"/>
                        <a:sym typeface="Proxima Nova"/>
                      </a:endParaRPr>
                    </a:p>
                  </a:txBody>
                  <a:tcPr marL="28575" marR="28575" marT="19050" marB="19050" anchor="b">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aphicFrame>
        <p:nvGraphicFramePr>
          <p:cNvPr id="164" name="Google Shape;164;p24"/>
          <p:cNvGraphicFramePr/>
          <p:nvPr/>
        </p:nvGraphicFramePr>
        <p:xfrm>
          <a:off x="311700" y="2108913"/>
          <a:ext cx="4086225" cy="1149035"/>
        </p:xfrm>
        <a:graphic>
          <a:graphicData uri="http://schemas.openxmlformats.org/drawingml/2006/table">
            <a:tbl>
              <a:tblPr>
                <a:noFill/>
                <a:tableStyleId>{8F727CA1-A22B-4835-B2F0-923C0CB78E8B}</a:tableStyleId>
              </a:tblPr>
              <a:tblGrid>
                <a:gridCol w="1228725">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tblGrid>
              <a:tr h="200025">
                <a:tc gridSpan="4">
                  <a:txBody>
                    <a:bodyPr/>
                    <a:lstStyle/>
                    <a:p>
                      <a:pPr marL="0" lvl="0" indent="0" algn="ctr" rtl="0">
                        <a:lnSpc>
                          <a:spcPct val="115000"/>
                        </a:lnSpc>
                        <a:spcBef>
                          <a:spcPts val="0"/>
                        </a:spcBef>
                        <a:spcAft>
                          <a:spcPts val="0"/>
                        </a:spcAft>
                        <a:buNone/>
                      </a:pPr>
                      <a:r>
                        <a:rPr lang="en" sz="1200" b="1">
                          <a:solidFill>
                            <a:schemeClr val="dk1"/>
                          </a:solidFill>
                          <a:latin typeface="Proxima Nova"/>
                          <a:ea typeface="Proxima Nova"/>
                          <a:cs typeface="Proxima Nova"/>
                          <a:sym typeface="Proxima Nova"/>
                        </a:rPr>
                        <a:t>Confusion Matrix</a:t>
                      </a:r>
                      <a:endParaRPr sz="1200" b="1">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0025">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Prediction</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Graduate</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Dropout</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Enrolled</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Graduate</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572</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45</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CC0000"/>
                          </a:solidFill>
                          <a:latin typeface="Proxima Nova"/>
                          <a:ea typeface="Proxima Nova"/>
                          <a:cs typeface="Proxima Nova"/>
                          <a:sym typeface="Proxima Nova"/>
                        </a:rPr>
                        <a:t>73</a:t>
                      </a:r>
                      <a:endParaRPr sz="1200" b="1">
                        <a:solidFill>
                          <a:srgbClr val="CC0000"/>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Dropout</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20</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321</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38</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200">
                          <a:solidFill>
                            <a:schemeClr val="dk1"/>
                          </a:solidFill>
                          <a:latin typeface="Proxima Nova"/>
                          <a:ea typeface="Proxima Nova"/>
                          <a:cs typeface="Proxima Nova"/>
                          <a:sym typeface="Proxima Nova"/>
                        </a:rPr>
                        <a:t>Enrolled</a:t>
                      </a:r>
                      <a:endParaRPr sz="1200">
                        <a:solidFill>
                          <a:schemeClr val="dk1"/>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chemeClr val="accent4"/>
                          </a:solidFill>
                          <a:latin typeface="Proxima Nova"/>
                          <a:ea typeface="Proxima Nova"/>
                          <a:cs typeface="Proxima Nova"/>
                          <a:sym typeface="Proxima Nova"/>
                        </a:rPr>
                        <a:t>71</a:t>
                      </a:r>
                      <a:endParaRPr sz="1200" b="1">
                        <a:solidFill>
                          <a:schemeClr val="accent4"/>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chemeClr val="accent4"/>
                          </a:solidFill>
                          <a:latin typeface="Proxima Nova"/>
                          <a:ea typeface="Proxima Nova"/>
                          <a:cs typeface="Proxima Nova"/>
                          <a:sym typeface="Proxima Nova"/>
                        </a:rPr>
                        <a:t>61</a:t>
                      </a:r>
                      <a:endParaRPr sz="1200" b="1">
                        <a:solidFill>
                          <a:schemeClr val="accent4"/>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128</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aphicFrame>
        <p:nvGraphicFramePr>
          <p:cNvPr id="165" name="Google Shape;165;p24"/>
          <p:cNvGraphicFramePr/>
          <p:nvPr/>
        </p:nvGraphicFramePr>
        <p:xfrm>
          <a:off x="311700" y="3633400"/>
          <a:ext cx="4655600" cy="1370015"/>
        </p:xfrm>
        <a:graphic>
          <a:graphicData uri="http://schemas.openxmlformats.org/drawingml/2006/table">
            <a:tbl>
              <a:tblPr>
                <a:noFill/>
                <a:tableStyleId>{8F727CA1-A22B-4835-B2F0-923C0CB78E8B}</a:tableStyleId>
              </a:tblPr>
              <a:tblGrid>
                <a:gridCol w="1399925">
                  <a:extLst>
                    <a:ext uri="{9D8B030D-6E8A-4147-A177-3AD203B41FA5}">
                      <a16:colId xmlns:a16="http://schemas.microsoft.com/office/drawing/2014/main" val="20000"/>
                    </a:ext>
                  </a:extLst>
                </a:gridCol>
                <a:gridCol w="1085225">
                  <a:extLst>
                    <a:ext uri="{9D8B030D-6E8A-4147-A177-3AD203B41FA5}">
                      <a16:colId xmlns:a16="http://schemas.microsoft.com/office/drawing/2014/main" val="20001"/>
                    </a:ext>
                  </a:extLst>
                </a:gridCol>
                <a:gridCol w="1085225">
                  <a:extLst>
                    <a:ext uri="{9D8B030D-6E8A-4147-A177-3AD203B41FA5}">
                      <a16:colId xmlns:a16="http://schemas.microsoft.com/office/drawing/2014/main" val="20002"/>
                    </a:ext>
                  </a:extLst>
                </a:gridCol>
                <a:gridCol w="1085225">
                  <a:extLst>
                    <a:ext uri="{9D8B030D-6E8A-4147-A177-3AD203B41FA5}">
                      <a16:colId xmlns:a16="http://schemas.microsoft.com/office/drawing/2014/main" val="20003"/>
                    </a:ext>
                  </a:extLst>
                </a:gridCol>
              </a:tblGrid>
              <a:tr h="200025">
                <a:tc>
                  <a:txBody>
                    <a:bodyPr/>
                    <a:lstStyle/>
                    <a:p>
                      <a:pPr marL="0" lvl="0" indent="0" algn="l" rtl="0">
                        <a:lnSpc>
                          <a:spcPct val="115000"/>
                        </a:lnSpc>
                        <a:spcBef>
                          <a:spcPts val="0"/>
                        </a:spcBef>
                        <a:spcAft>
                          <a:spcPts val="0"/>
                        </a:spcAft>
                        <a:buNone/>
                      </a:pPr>
                      <a:r>
                        <a:rPr lang="en" sz="1200" b="1">
                          <a:latin typeface="Proxima Nova"/>
                          <a:ea typeface="Proxima Nova"/>
                          <a:cs typeface="Proxima Nova"/>
                          <a:sym typeface="Proxima Nova"/>
                        </a:rPr>
                        <a:t>Model Accuracy</a:t>
                      </a:r>
                      <a:endParaRPr sz="1200" b="1">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1B9579"/>
                          </a:solidFill>
                          <a:latin typeface="Proxima Nova"/>
                          <a:ea typeface="Proxima Nova"/>
                          <a:cs typeface="Proxima Nova"/>
                          <a:sym typeface="Proxima Nova"/>
                        </a:rPr>
                        <a:t>76.82%</a:t>
                      </a:r>
                      <a:endParaRPr sz="1200" b="1">
                        <a:solidFill>
                          <a:srgbClr val="1B9579"/>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0"/>
                  </a:ext>
                </a:extLst>
              </a:tr>
              <a:tr h="200025">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200" b="1">
                          <a:latin typeface="Proxima Nova"/>
                          <a:ea typeface="Proxima Nova"/>
                          <a:cs typeface="Proxima Nova"/>
                          <a:sym typeface="Proxima Nova"/>
                        </a:rPr>
                        <a:t>Statistics by Class</a:t>
                      </a:r>
                      <a:endParaRPr sz="1200" b="1">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l" rtl="0">
                        <a:spcBef>
                          <a:spcPts val="0"/>
                        </a:spcBef>
                        <a:spcAft>
                          <a:spcPts val="0"/>
                        </a:spcAft>
                        <a:buNone/>
                      </a:pP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Graduate</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Dropout</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Enrolled</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Sensitivity</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86.27%</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75.18%</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1B9579"/>
                          </a:solidFill>
                          <a:latin typeface="Proxima Nova"/>
                          <a:ea typeface="Proxima Nova"/>
                          <a:cs typeface="Proxima Nova"/>
                          <a:sym typeface="Proxima Nova"/>
                        </a:rPr>
                        <a:t>53.56%</a:t>
                      </a:r>
                      <a:endParaRPr sz="1200" b="1">
                        <a:solidFill>
                          <a:srgbClr val="1B9579"/>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None/>
                      </a:pPr>
                      <a:r>
                        <a:rPr lang="en" sz="1200">
                          <a:latin typeface="Proxima Nova"/>
                          <a:ea typeface="Proxima Nova"/>
                          <a:cs typeface="Proxima Nova"/>
                          <a:sym typeface="Proxima Nova"/>
                        </a:rPr>
                        <a:t>Balanced Accuracy</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84.28%</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a:latin typeface="Proxima Nova"/>
                          <a:ea typeface="Proxima Nova"/>
                          <a:cs typeface="Proxima Nova"/>
                          <a:sym typeface="Proxima Nova"/>
                        </a:rPr>
                        <a:t>84.37%</a:t>
                      </a:r>
                      <a:endParaRPr sz="1200">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200" b="1">
                          <a:solidFill>
                            <a:srgbClr val="1B9579"/>
                          </a:solidFill>
                          <a:latin typeface="Proxima Nova"/>
                          <a:ea typeface="Proxima Nova"/>
                          <a:cs typeface="Proxima Nova"/>
                          <a:sym typeface="Proxima Nova"/>
                        </a:rPr>
                        <a:t>70.72%</a:t>
                      </a:r>
                      <a:endParaRPr sz="1200" b="1">
                        <a:solidFill>
                          <a:srgbClr val="1B9579"/>
                        </a:solidFill>
                        <a:latin typeface="Proxima Nova"/>
                        <a:ea typeface="Proxima Nova"/>
                        <a:cs typeface="Proxima Nova"/>
                        <a:sym typeface="Proxima Nova"/>
                      </a:endParaRPr>
                    </a:p>
                  </a:txBody>
                  <a:tcPr marL="28575" marR="28575" marT="19050" marB="19050" anchor="b">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66" name="Google Shape;166;p24"/>
          <p:cNvSpPr txBox="1"/>
          <p:nvPr/>
        </p:nvSpPr>
        <p:spPr>
          <a:xfrm>
            <a:off x="5765550" y="1041900"/>
            <a:ext cx="3066900" cy="29220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The model is now able to capture more than 50% (53.56%) of the enrolled class; which it was struggling with previously, 37.23% in the classification model, and 20.90% in the logistic model.</a:t>
            </a:r>
            <a:endParaRPr sz="1300">
              <a:solidFill>
                <a:schemeClr val="dk1"/>
              </a:solidFill>
              <a:latin typeface="Proxima Nova"/>
              <a:ea typeface="Proxima Nova"/>
              <a:cs typeface="Proxima Nova"/>
              <a:sym typeface="Proxima Nova"/>
            </a:endParaRPr>
          </a:p>
          <a:p>
            <a:pPr marL="457200" lvl="0" indent="-311150" algn="l" rtl="0">
              <a:lnSpc>
                <a:spcPct val="115000"/>
              </a:lnSpc>
              <a:spcBef>
                <a:spcPts val="1200"/>
              </a:spcBef>
              <a:spcAft>
                <a:spcPts val="1200"/>
              </a:spcAft>
              <a:buClr>
                <a:schemeClr val="dk1"/>
              </a:buClr>
              <a:buSzPts val="1300"/>
              <a:buFont typeface="Proxima Nova"/>
              <a:buChar char="●"/>
            </a:pPr>
            <a:r>
              <a:rPr lang="en" sz="1300">
                <a:solidFill>
                  <a:schemeClr val="dk1"/>
                </a:solidFill>
                <a:latin typeface="Proxima Nova"/>
                <a:ea typeface="Proxima Nova"/>
                <a:cs typeface="Proxima Nova"/>
                <a:sym typeface="Proxima Nova"/>
              </a:rPr>
              <a:t>The model’s accuracy is 77% (76.8%) which is the </a:t>
            </a:r>
            <a:r>
              <a:rPr lang="en" sz="1300" b="1">
                <a:solidFill>
                  <a:srgbClr val="1B9579"/>
                </a:solidFill>
                <a:latin typeface="Proxima Nova"/>
                <a:ea typeface="Proxima Nova"/>
                <a:cs typeface="Proxima Nova"/>
                <a:sym typeface="Proxima Nova"/>
              </a:rPr>
              <a:t>highest of all the models</a:t>
            </a:r>
            <a:r>
              <a:rPr lang="en" sz="1300">
                <a:solidFill>
                  <a:schemeClr val="dk1"/>
                </a:solidFill>
                <a:latin typeface="Proxima Nova"/>
                <a:ea typeface="Proxima Nova"/>
                <a:cs typeface="Proxima Nova"/>
                <a:sym typeface="Proxima Nova"/>
              </a:rPr>
              <a:t> we’ve built, i.e.,Unbalanced random forest model (75.28%), logistic regression (74.4%), classification tree (75.5%).</a:t>
            </a:r>
            <a:endParaRPr sz="1300">
              <a:solidFill>
                <a:schemeClr val="dk1"/>
              </a:solidFill>
              <a:latin typeface="Proxima Nova"/>
              <a:ea typeface="Proxima Nova"/>
              <a:cs typeface="Proxima Nova"/>
              <a:sym typeface="Proxima Nova"/>
            </a:endParaRPr>
          </a:p>
        </p:txBody>
      </p:sp>
      <p:cxnSp>
        <p:nvCxnSpPr>
          <p:cNvPr id="167" name="Google Shape;167;p24"/>
          <p:cNvCxnSpPr/>
          <p:nvPr/>
        </p:nvCxnSpPr>
        <p:spPr>
          <a:xfrm>
            <a:off x="5366425" y="1042025"/>
            <a:ext cx="0" cy="40506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5"/>
          <p:cNvSpPr txBox="1">
            <a:spLocks noGrp="1"/>
          </p:cNvSpPr>
          <p:nvPr>
            <p:ph type="title"/>
          </p:nvPr>
        </p:nvSpPr>
        <p:spPr>
          <a:xfrm>
            <a:off x="311700" y="159556"/>
            <a:ext cx="8520600" cy="636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latin typeface="Proxima Nova"/>
                <a:ea typeface="Proxima Nova"/>
                <a:cs typeface="Proxima Nova"/>
                <a:sym typeface="Proxima Nova"/>
              </a:rPr>
              <a:t>Balanced Random Forest: Model Evaluation</a:t>
            </a:r>
            <a:endParaRPr sz="1550" b="1">
              <a:latin typeface="Proxima Nova"/>
              <a:ea typeface="Proxima Nova"/>
              <a:cs typeface="Proxima Nova"/>
              <a:sym typeface="Proxima Nova"/>
            </a:endParaRPr>
          </a:p>
        </p:txBody>
      </p:sp>
      <p:sp>
        <p:nvSpPr>
          <p:cNvPr id="173" name="Google Shape;173;p25"/>
          <p:cNvSpPr txBox="1"/>
          <p:nvPr/>
        </p:nvSpPr>
        <p:spPr>
          <a:xfrm>
            <a:off x="6026525" y="1041900"/>
            <a:ext cx="2975700" cy="31584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120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'curricular_units_2nd_sem_approved' is the </a:t>
            </a:r>
            <a:r>
              <a:rPr lang="en" sz="1300" b="1">
                <a:solidFill>
                  <a:schemeClr val="dk1"/>
                </a:solidFill>
                <a:latin typeface="Proxima Nova"/>
                <a:ea typeface="Proxima Nova"/>
                <a:cs typeface="Proxima Nova"/>
                <a:sym typeface="Proxima Nova"/>
              </a:rPr>
              <a:t>most important variable</a:t>
            </a:r>
            <a:r>
              <a:rPr lang="en" sz="1300">
                <a:solidFill>
                  <a:schemeClr val="dk1"/>
                </a:solidFill>
                <a:latin typeface="Proxima Nova"/>
                <a:ea typeface="Proxima Nova"/>
                <a:cs typeface="Proxima Nova"/>
                <a:sym typeface="Proxima Nova"/>
              </a:rPr>
              <a:t> in predicting outcomes for our model.</a:t>
            </a:r>
            <a:endParaRPr sz="1300">
              <a:solidFill>
                <a:schemeClr val="dk1"/>
              </a:solidFill>
              <a:latin typeface="Proxima Nova"/>
              <a:ea typeface="Proxima Nova"/>
              <a:cs typeface="Proxima Nova"/>
              <a:sym typeface="Proxima Nova"/>
            </a:endParaRPr>
          </a:p>
          <a:p>
            <a:pPr marL="457200" lvl="0" indent="-311150" algn="l" rtl="0">
              <a:lnSpc>
                <a:spcPct val="115000"/>
              </a:lnSpc>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This confirms our finding from the classification tree.</a:t>
            </a:r>
            <a:endParaRPr sz="1300">
              <a:solidFill>
                <a:schemeClr val="dk1"/>
              </a:solidFill>
              <a:latin typeface="Proxima Nova"/>
              <a:ea typeface="Proxima Nova"/>
              <a:cs typeface="Proxima Nova"/>
              <a:sym typeface="Proxima Nova"/>
            </a:endParaRPr>
          </a:p>
          <a:p>
            <a:pPr marL="457200" lvl="0" indent="-311150" algn="l" rtl="0">
              <a:lnSpc>
                <a:spcPct val="115000"/>
              </a:lnSpc>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Tuition is the most important non-academic variable.</a:t>
            </a:r>
            <a:endParaRPr sz="1300">
              <a:solidFill>
                <a:schemeClr val="dk1"/>
              </a:solidFill>
              <a:latin typeface="Proxima Nova"/>
              <a:ea typeface="Proxima Nova"/>
              <a:cs typeface="Proxima Nova"/>
              <a:sym typeface="Proxima Nova"/>
            </a:endParaRPr>
          </a:p>
          <a:p>
            <a:pPr marL="457200" lvl="0" indent="-311150" algn="l" rtl="0">
              <a:lnSpc>
                <a:spcPct val="115000"/>
              </a:lnSpc>
              <a:spcBef>
                <a:spcPts val="0"/>
              </a:spcBef>
              <a:spcAft>
                <a:spcPts val="0"/>
              </a:spcAft>
              <a:buClr>
                <a:schemeClr val="dk1"/>
              </a:buClr>
              <a:buSzPts val="1300"/>
              <a:buFont typeface="Proxima Nova"/>
              <a:buChar char="●"/>
            </a:pPr>
            <a:r>
              <a:rPr lang="en" sz="1300">
                <a:solidFill>
                  <a:schemeClr val="dk1"/>
                </a:solidFill>
                <a:latin typeface="Proxima Nova"/>
                <a:ea typeface="Proxima Nova"/>
                <a:cs typeface="Proxima Nova"/>
                <a:sym typeface="Proxima Nova"/>
              </a:rPr>
              <a:t>Variables such as 'international', 'educational_special_needs', and 'application_order' have near zero importance.</a:t>
            </a:r>
            <a:endParaRPr sz="1300">
              <a:solidFill>
                <a:schemeClr val="dk1"/>
              </a:solidFill>
              <a:latin typeface="Proxima Nova"/>
              <a:ea typeface="Proxima Nova"/>
              <a:cs typeface="Proxima Nova"/>
              <a:sym typeface="Proxima Nova"/>
            </a:endParaRPr>
          </a:p>
        </p:txBody>
      </p:sp>
      <p:pic>
        <p:nvPicPr>
          <p:cNvPr id="174" name="Google Shape;174;p25"/>
          <p:cNvPicPr preferRelativeResize="0"/>
          <p:nvPr/>
        </p:nvPicPr>
        <p:blipFill rotWithShape="1">
          <a:blip r:embed="rId3">
            <a:alphaModFix/>
          </a:blip>
          <a:srcRect l="2941"/>
          <a:stretch/>
        </p:blipFill>
        <p:spPr>
          <a:xfrm>
            <a:off x="0" y="948250"/>
            <a:ext cx="6026525" cy="38362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6"/>
          <p:cNvSpPr txBox="1">
            <a:spLocks noGrp="1"/>
          </p:cNvSpPr>
          <p:nvPr>
            <p:ph type="title"/>
          </p:nvPr>
        </p:nvSpPr>
        <p:spPr>
          <a:xfrm>
            <a:off x="311700" y="159556"/>
            <a:ext cx="8520600" cy="636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latin typeface="Proxima Nova"/>
                <a:ea typeface="Proxima Nova"/>
                <a:cs typeface="Proxima Nova"/>
                <a:sym typeface="Proxima Nova"/>
              </a:rPr>
              <a:t>Conclusion: Model Comparison</a:t>
            </a:r>
            <a:endParaRPr sz="1550" b="1">
              <a:latin typeface="Proxima Nova"/>
              <a:ea typeface="Proxima Nova"/>
              <a:cs typeface="Proxima Nova"/>
              <a:sym typeface="Proxima Nova"/>
            </a:endParaRPr>
          </a:p>
        </p:txBody>
      </p:sp>
      <p:pic>
        <p:nvPicPr>
          <p:cNvPr id="180" name="Google Shape;180;p26"/>
          <p:cNvPicPr preferRelativeResize="0"/>
          <p:nvPr/>
        </p:nvPicPr>
        <p:blipFill>
          <a:blip r:embed="rId3">
            <a:alphaModFix/>
          </a:blip>
          <a:stretch>
            <a:fillRect/>
          </a:stretch>
        </p:blipFill>
        <p:spPr>
          <a:xfrm>
            <a:off x="1198875" y="795850"/>
            <a:ext cx="6467936" cy="3994924"/>
          </a:xfrm>
          <a:prstGeom prst="rect">
            <a:avLst/>
          </a:prstGeom>
          <a:noFill/>
          <a:ln>
            <a:noFill/>
          </a:ln>
        </p:spPr>
      </p:pic>
      <p:sp>
        <p:nvSpPr>
          <p:cNvPr id="181" name="Google Shape;181;p26"/>
          <p:cNvSpPr txBox="1"/>
          <p:nvPr/>
        </p:nvSpPr>
        <p:spPr>
          <a:xfrm>
            <a:off x="148500" y="4867250"/>
            <a:ext cx="8683800" cy="794100"/>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1200"/>
              </a:spcBef>
              <a:spcAft>
                <a:spcPts val="0"/>
              </a:spcAft>
              <a:buSzPts val="1200"/>
              <a:buFont typeface="Proxima Nova"/>
              <a:buChar char="●"/>
            </a:pPr>
            <a:r>
              <a:rPr lang="en" sz="1200">
                <a:latin typeface="Proxima Nova"/>
                <a:ea typeface="Proxima Nova"/>
                <a:cs typeface="Proxima Nova"/>
                <a:sym typeface="Proxima Nova"/>
              </a:rPr>
              <a:t>The balanced Random Forest is our most fair and useful model as it provides the best 'safety net' for the Enrolled students without sacrificing too much performance on Graduates and Dropouts. </a:t>
            </a:r>
            <a:endParaRPr sz="1200">
              <a:latin typeface="Proxima Nova"/>
              <a:ea typeface="Proxima Nova"/>
              <a:cs typeface="Proxima Nova"/>
              <a:sym typeface="Proxima Nova"/>
            </a:endParaRPr>
          </a:p>
          <a:p>
            <a:pPr marL="457200" lvl="0" indent="-304800" algn="l" rtl="0">
              <a:lnSpc>
                <a:spcPct val="115000"/>
              </a:lnSpc>
              <a:spcBef>
                <a:spcPts val="0"/>
              </a:spcBef>
              <a:spcAft>
                <a:spcPts val="0"/>
              </a:spcAft>
              <a:buSzPts val="1200"/>
              <a:buFont typeface="Proxima Nova"/>
              <a:buChar char="●"/>
            </a:pPr>
            <a:r>
              <a:rPr lang="en" sz="1200">
                <a:latin typeface="Proxima Nova"/>
                <a:ea typeface="Proxima Nova"/>
                <a:cs typeface="Proxima Nova"/>
                <a:sym typeface="Proxima Nova"/>
              </a:rPr>
              <a:t>The logistic regression remains the most accurate overall.</a:t>
            </a:r>
            <a:endParaRPr sz="1200">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1582</Words>
  <Application>Microsoft Macintosh PowerPoint</Application>
  <PresentationFormat>On-screen Show (16:10)</PresentationFormat>
  <Paragraphs>332</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Proxima Nova</vt:lpstr>
      <vt:lpstr>Arial</vt:lpstr>
      <vt:lpstr>Simple Light</vt:lpstr>
      <vt:lpstr>Predictive Modelling to Predict Students Dropout and Academic Success</vt:lpstr>
      <vt:lpstr>Recap: Project Motivation and Research Questions</vt:lpstr>
      <vt:lpstr>Recap: Data Overview</vt:lpstr>
      <vt:lpstr>Logistic Regression: Data Modelling</vt:lpstr>
      <vt:lpstr>Logistic Regression: Data Modelling</vt:lpstr>
      <vt:lpstr>Logistic Regression: Model Results</vt:lpstr>
      <vt:lpstr>Logistic Regression: Model Evaluation</vt:lpstr>
      <vt:lpstr>Classification Tree: Model Results</vt:lpstr>
      <vt:lpstr>Classification Tree: Model Evaluation</vt:lpstr>
      <vt:lpstr>Random Forest: Model Results</vt:lpstr>
      <vt:lpstr>Balanced Random Forest: Model Results</vt:lpstr>
      <vt:lpstr>Balanced Random Forest: Model Evaluation</vt:lpstr>
      <vt:lpstr>Balanced Random Forest: Model Evaluation</vt:lpstr>
      <vt:lpstr>Conclusion: Model Comparison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James Kibiro</cp:lastModifiedBy>
  <cp:revision>1</cp:revision>
  <dcterms:modified xsi:type="dcterms:W3CDTF">2026-05-07T16:57:22Z</dcterms:modified>
</cp:coreProperties>
</file>